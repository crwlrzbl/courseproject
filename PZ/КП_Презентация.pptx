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529"/>
    <a:srgbClr val="00F2FE"/>
    <a:srgbClr val="4FACFE"/>
    <a:srgbClr val="764BA2"/>
    <a:srgbClr val="667EEA"/>
    <a:srgbClr val="C3CFE2"/>
    <a:srgbClr val="F5F7FA"/>
    <a:srgbClr val="F5576C"/>
    <a:srgbClr val="F093F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ADB91E-C2BD-692B-BA77-D55F9A519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224254-DA3D-D117-F538-05C5697F4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0A5F14-1A25-0781-83D9-94C7C219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E11B0-ADAA-9D03-F505-1E60B88B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CF27EA-F3B1-83DF-6CF9-ECA0BF69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37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9A538-0417-4DF1-7FD8-A3DBDBE9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8299EE-BF4A-700A-0AAE-FDF22AD9D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E54036-BDC1-4CE2-D57B-F1C0DDDEE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26FAC1-EB83-FD69-15C8-2773A163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65FB97-F5B8-407D-1E8F-FA05C86F4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9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6F9B19-FBD6-7351-A144-82ADDE08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1D24B3-0735-819E-6FD9-696C4CEF3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06779B-919A-437E-4C8A-F9769D56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4A0B8D-0CA8-3D0B-485E-0C6B6CFA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D346E6-D803-3F35-FDEC-6B5F400F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306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12348-22EA-8F3D-8E3B-0CB80D76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D79BF0-8A17-7B86-64E1-C10F57955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5212F9-CD0C-A6D0-F08A-DF6D3297C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1872BD-3103-BA64-4024-5516FC27A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816A84-1877-4187-5E49-545E81B0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D8721E-1E47-8B72-46D7-C863FE038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75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6B0E9-1306-2D56-A887-1913ACE99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54B5B7-CE2E-1D6A-DC7A-03E10C358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259D05-BD13-FA79-D695-F8F568935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70A478-EB13-7CAA-2A53-E771C70B8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6354C2F-5FD3-89F1-59C5-42FC476E0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D275AB-CAC1-368E-7A48-2A5C304F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ADACE0B-BD6E-982D-E4D0-48F653D6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DE9C1D-D3C1-226B-89BE-EDE23427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53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3651DE-73F4-D9C0-79DF-D24BCF14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53EEC39-BC7F-4E7E-F69D-67F512BB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5606CE1-08AE-0F25-C91D-4BB6A6189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C88AF34-7307-C801-FD35-69382840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02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EE27CD6-8C81-16C0-01C5-C0EBB208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4512398-A49F-41F3-AB1E-4756D0A09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389139-A986-6997-994C-54BA6E488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7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30FC4-0C33-5D1C-DFBA-C11AE3E6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D7452F-5182-F0E5-9564-5FEEE4BDF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6139FA-8EF1-FFF4-F59E-5740D4330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4C9F32-34E6-B741-6142-F75433641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C7E08E-0F7F-5576-B2DC-045B64A4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50B4F7-0F97-E377-444E-6AA2EEA4D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06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40A931-D2A2-A036-0DE2-914398D2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D69DB4E-EFFE-D594-6F16-772C0B0A5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29F81F-ED8D-7BAA-B4FF-7B254D735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8B3CAE-1330-F25F-AEEE-31978FC7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BDECEA-592A-942A-9F17-C425AA970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55C56B-0766-F300-FC85-636BF3B6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615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CBCCC4-E37A-569B-5B13-0F1F0A83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B968C6-D680-DFEB-4A4E-CE0F03D5C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C1D781-DE6B-6641-32CB-E03892B2F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36E5BF-2A09-A7E8-0A97-5766F0FC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928914-5304-5C41-47E0-879B1701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667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769F2D4-E6A5-BF95-C06F-B31490BDD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DD4AAE-F3EA-71EA-A1DC-20FFA6BCE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6B99F2-23D3-6A07-68A2-386202F23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9E775-5433-49F4-4979-2D46F556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9DD0BD-43F8-35C3-11F0-2697AE76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157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80608-1EEC-09AB-9FDD-07297B45A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138D14-C657-F6A7-5DB0-83611C2BD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8E3398-6559-A2B1-C97F-FFDA059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C4341-ED86-4291-B23A-7F541C7F0A78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B4D1A3-230C-8817-6FBD-AD7383396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280405-348B-78E8-D009-6B5996985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FEABC-9698-45D3-A344-1F644EE37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189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D6897F8-CFED-3A1C-69C1-966436A555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667EEA"/>
              </a:gs>
              <a:gs pos="0">
                <a:srgbClr val="764BA2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DD4F422-3839-0917-C60A-98E8A6BD2750}"/>
              </a:ext>
            </a:extLst>
          </p:cNvPr>
          <p:cNvSpPr/>
          <p:nvPr/>
        </p:nvSpPr>
        <p:spPr>
          <a:xfrm>
            <a:off x="711201" y="558800"/>
            <a:ext cx="10782300" cy="5753099"/>
          </a:xfrm>
          <a:prstGeom prst="roundRect">
            <a:avLst>
              <a:gd name="adj" fmla="val 3201"/>
            </a:avLst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ADD499-EB3A-AED9-3871-8F63FD22EC93}"/>
              </a:ext>
            </a:extLst>
          </p:cNvPr>
          <p:cNvSpPr txBox="1"/>
          <p:nvPr/>
        </p:nvSpPr>
        <p:spPr>
          <a:xfrm>
            <a:off x="5010151" y="5778500"/>
            <a:ext cx="2184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6C757D"/>
                </a:solidFill>
              </a:rPr>
              <a:t>Архангельск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8BBDA-DA00-3317-AA5F-59B218D39170}"/>
              </a:ext>
            </a:extLst>
          </p:cNvPr>
          <p:cNvSpPr txBox="1"/>
          <p:nvPr/>
        </p:nvSpPr>
        <p:spPr>
          <a:xfrm>
            <a:off x="1060450" y="698500"/>
            <a:ext cx="100710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ФЕДЕРАЛЬНОЕ ГОСУДАРСТВЕННОЕ БЮДЖЕТНОЕ ОБРАЗОВАТЕЛЬНОЕ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УЧРЕЖДЕНИЕ ВЫСШЕГО ОБРАЗОВАНИЯ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«САНКТ-ПЕТЕРБУРГСКИЙ ГОСУДАРСТВЕННЫЙ УНИВЕРСИТЕТ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ТЕЛЕКОММУНИКАЦИЙ ИМ. ПРОФ. М.А. БОНЧ-БРУЕВИЧА»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(СПбГУТ)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АРХАНГЕЛЬСКИЙ КОЛЛЕДЖ ТЕЛЕКОММУНИКАЦИЙ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ИМ. Б.Л. РОЗИНГА (ФИЛИАЛ) СПбГУТ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(АКТ (ф) СПбГУТ)</a:t>
            </a:r>
            <a:endParaRPr lang="ru-RU" sz="1600" dirty="0">
              <a:solidFill>
                <a:srgbClr val="6C757D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EF8ACB-B05D-C3F2-EADA-13BDB506ED63}"/>
              </a:ext>
            </a:extLst>
          </p:cNvPr>
          <p:cNvSpPr txBox="1"/>
          <p:nvPr/>
        </p:nvSpPr>
        <p:spPr>
          <a:xfrm>
            <a:off x="4559300" y="2811641"/>
            <a:ext cx="3086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667EEA"/>
                </a:solidFill>
              </a:rPr>
              <a:t>КУРСОВОЙ ПРОЕКТ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20CF6C-29AC-2BC6-F3ED-CB377A2CB59B}"/>
              </a:ext>
            </a:extLst>
          </p:cNvPr>
          <p:cNvSpPr txBox="1"/>
          <p:nvPr/>
        </p:nvSpPr>
        <p:spPr>
          <a:xfrm>
            <a:off x="2285999" y="3244334"/>
            <a:ext cx="763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212529"/>
                </a:solidFill>
              </a:rPr>
              <a:t>РАЗРАБОТКА ПОДСИСТЕМЫ ЗАКАЗА АВТОМОБИЛЕЙ ДЛЯ АВТОСАЛОНА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A7DD3A-EB50-5BB2-D516-8AF422BFB2E0}"/>
              </a:ext>
            </a:extLst>
          </p:cNvPr>
          <p:cNvSpPr txBox="1"/>
          <p:nvPr/>
        </p:nvSpPr>
        <p:spPr>
          <a:xfrm>
            <a:off x="7899400" y="4097397"/>
            <a:ext cx="32321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12529"/>
                </a:solidFill>
              </a:rPr>
              <a:t>Погребной Иван Сергеевич</a:t>
            </a:r>
          </a:p>
          <a:p>
            <a:r>
              <a:rPr lang="ru-RU" sz="1600" dirty="0">
                <a:solidFill>
                  <a:srgbClr val="6C757D"/>
                </a:solidFill>
              </a:rPr>
              <a:t>Студент ИСПП-21</a:t>
            </a:r>
          </a:p>
          <a:p>
            <a:endParaRPr lang="ru-RU" dirty="0"/>
          </a:p>
          <a:p>
            <a:r>
              <a:rPr lang="ru-RU" dirty="0">
                <a:solidFill>
                  <a:srgbClr val="212529"/>
                </a:solidFill>
              </a:rPr>
              <a:t>Маломан Юлия Сергеевна</a:t>
            </a:r>
            <a:br>
              <a:rPr lang="ru-RU" dirty="0"/>
            </a:br>
            <a:r>
              <a:rPr lang="ru-RU" dirty="0">
                <a:solidFill>
                  <a:srgbClr val="6C757D"/>
                </a:solidFill>
              </a:rPr>
              <a:t>Руководитель</a:t>
            </a:r>
          </a:p>
        </p:txBody>
      </p:sp>
    </p:spTree>
    <p:extLst>
      <p:ext uri="{BB962C8B-B14F-4D97-AF65-F5344CB8AC3E}">
        <p14:creationId xmlns:p14="http://schemas.microsoft.com/office/powerpoint/2010/main" val="1122761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B694473-AF35-8583-7B1B-309C21D09D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667EEA"/>
              </a:gs>
              <a:gs pos="0">
                <a:srgbClr val="764BA2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8DAC7A47-8479-7B96-8093-A965B89318AC}"/>
              </a:ext>
            </a:extLst>
          </p:cNvPr>
          <p:cNvSpPr/>
          <p:nvPr/>
        </p:nvSpPr>
        <p:spPr>
          <a:xfrm>
            <a:off x="711201" y="558800"/>
            <a:ext cx="10782300" cy="5753099"/>
          </a:xfrm>
          <a:prstGeom prst="roundRect">
            <a:avLst>
              <a:gd name="adj" fmla="val 3201"/>
            </a:avLst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74580C5F-7F77-C52C-6347-58F600B39500}"/>
              </a:ext>
            </a:extLst>
          </p:cNvPr>
          <p:cNvSpPr/>
          <p:nvPr/>
        </p:nvSpPr>
        <p:spPr>
          <a:xfrm>
            <a:off x="10062366" y="851407"/>
            <a:ext cx="1069183" cy="330488"/>
          </a:xfrm>
          <a:prstGeom prst="roundRect">
            <a:avLst>
              <a:gd name="adj" fmla="val 42728"/>
            </a:avLst>
          </a:prstGeom>
          <a:gradFill flip="none" rotWithShape="1">
            <a:gsLst>
              <a:gs pos="0">
                <a:srgbClr val="667EEA">
                  <a:lumMod val="100000"/>
                </a:srgbClr>
              </a:gs>
              <a:gs pos="100000">
                <a:srgbClr val="764BA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8F9FA"/>
                </a:solidFill>
              </a:rPr>
              <a:t>2</a:t>
            </a:r>
            <a:r>
              <a:rPr lang="en-US" dirty="0">
                <a:solidFill>
                  <a:srgbClr val="F8F9FA"/>
                </a:solidFill>
              </a:rPr>
              <a:t>/9</a:t>
            </a:r>
            <a:endParaRPr lang="ru-RU" dirty="0">
              <a:solidFill>
                <a:srgbClr val="F8F9FA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687C45-1435-D0B9-84AE-0454A8259D7B}"/>
              </a:ext>
            </a:extLst>
          </p:cNvPr>
          <p:cNvSpPr txBox="1"/>
          <p:nvPr/>
        </p:nvSpPr>
        <p:spPr>
          <a:xfrm>
            <a:off x="4171950" y="889507"/>
            <a:ext cx="3848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667EEA"/>
                </a:solidFill>
              </a:rPr>
              <a:t>Актуальность</a:t>
            </a:r>
            <a:endParaRPr lang="ru-RU" sz="2000" dirty="0">
              <a:solidFill>
                <a:srgbClr val="667EEA"/>
              </a:solidFill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6D0811FF-D20A-39D7-7819-D5F2C4F7BE63}"/>
              </a:ext>
            </a:extLst>
          </p:cNvPr>
          <p:cNvSpPr/>
          <p:nvPr/>
        </p:nvSpPr>
        <p:spPr>
          <a:xfrm>
            <a:off x="1611517" y="2393168"/>
            <a:ext cx="9266034" cy="29998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pic>
        <p:nvPicPr>
          <p:cNvPr id="38" name="Рисунок 37" descr="Изображение выглядит как офисные принадлежности, Имущество общего назначения, текст, короб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E90531F-D91A-01D5-8770-92190BB0C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385" y="2346363"/>
            <a:ext cx="3319130" cy="304665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7825942-9E05-FDBE-A26F-C9056366DB3F}"/>
              </a:ext>
            </a:extLst>
          </p:cNvPr>
          <p:cNvSpPr txBox="1"/>
          <p:nvPr/>
        </p:nvSpPr>
        <p:spPr>
          <a:xfrm>
            <a:off x="6871580" y="2770360"/>
            <a:ext cx="35761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Отсутствие единой информационной системы усложняет управление автосалоном, обработку заказов и ведение учета автомобилей. Современные клиенты ожидают удобный онлайн-сервис для выбора и заказа автомобилей.</a:t>
            </a:r>
          </a:p>
        </p:txBody>
      </p:sp>
    </p:spTree>
    <p:extLst>
      <p:ext uri="{BB962C8B-B14F-4D97-AF65-F5344CB8AC3E}">
        <p14:creationId xmlns:p14="http://schemas.microsoft.com/office/powerpoint/2010/main" val="2377220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6A73F71-1E51-5C92-DA79-8B237525C6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9EFBC48-E2D5-4957-41F2-5C334E35E5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667EEA"/>
              </a:gs>
              <a:gs pos="0">
                <a:srgbClr val="764BA2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30622EA-9865-EA66-1AA1-462E0954F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1201" y="558800"/>
            <a:ext cx="10782300" cy="5753099"/>
          </a:xfrm>
          <a:prstGeom prst="roundRect">
            <a:avLst>
              <a:gd name="adj" fmla="val 3201"/>
            </a:avLst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923ACD1-3F69-1466-AE44-CED2C9CD7170}"/>
              </a:ext>
            </a:extLst>
          </p:cNvPr>
          <p:cNvSpPr/>
          <p:nvPr/>
        </p:nvSpPr>
        <p:spPr>
          <a:xfrm>
            <a:off x="10062366" y="851407"/>
            <a:ext cx="1069183" cy="330488"/>
          </a:xfrm>
          <a:prstGeom prst="roundRect">
            <a:avLst>
              <a:gd name="adj" fmla="val 42728"/>
            </a:avLst>
          </a:prstGeom>
          <a:gradFill flip="none" rotWithShape="1">
            <a:gsLst>
              <a:gs pos="0">
                <a:srgbClr val="667EEA">
                  <a:lumMod val="100000"/>
                </a:srgbClr>
              </a:gs>
              <a:gs pos="100000">
                <a:srgbClr val="764BA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8F9FA"/>
                </a:solidFill>
              </a:rPr>
              <a:t>3/9</a:t>
            </a:r>
            <a:endParaRPr lang="ru-RU" dirty="0">
              <a:solidFill>
                <a:srgbClr val="F8F9FA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03F5F-9B90-55BC-E068-44C90C37018D}"/>
              </a:ext>
            </a:extLst>
          </p:cNvPr>
          <p:cNvSpPr txBox="1"/>
          <p:nvPr/>
        </p:nvSpPr>
        <p:spPr>
          <a:xfrm>
            <a:off x="4171950" y="889507"/>
            <a:ext cx="3848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667EEA"/>
                </a:solidFill>
              </a:rPr>
              <a:t>Целевая аудитория</a:t>
            </a:r>
            <a:endParaRPr lang="ru-RU" sz="2000" dirty="0">
              <a:solidFill>
                <a:srgbClr val="667EEA"/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ACB2853-0C1F-6818-6784-33AC4D40974B}"/>
              </a:ext>
            </a:extLst>
          </p:cNvPr>
          <p:cNvSpPr/>
          <p:nvPr/>
        </p:nvSpPr>
        <p:spPr>
          <a:xfrm>
            <a:off x="1355035" y="2393167"/>
            <a:ext cx="2560433" cy="29998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rgbClr val="212529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13D1B78-20E8-56C8-4A1F-5CCDDF61E941}"/>
              </a:ext>
            </a:extLst>
          </p:cNvPr>
          <p:cNvSpPr/>
          <p:nvPr/>
        </p:nvSpPr>
        <p:spPr>
          <a:xfrm>
            <a:off x="4815783" y="2393167"/>
            <a:ext cx="2560433" cy="29998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1767252-6C57-DD7B-25C8-0EF1F3EB5762}"/>
              </a:ext>
            </a:extLst>
          </p:cNvPr>
          <p:cNvSpPr/>
          <p:nvPr/>
        </p:nvSpPr>
        <p:spPr>
          <a:xfrm>
            <a:off x="8276532" y="2393167"/>
            <a:ext cx="2560433" cy="29998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90CC59-045C-8558-1149-A7EBD57417C5}"/>
              </a:ext>
            </a:extLst>
          </p:cNvPr>
          <p:cNvSpPr txBox="1"/>
          <p:nvPr/>
        </p:nvSpPr>
        <p:spPr>
          <a:xfrm>
            <a:off x="2235201" y="3044279"/>
            <a:ext cx="800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F86EBF-7020-B838-AC7D-93FB1FEFFF08}"/>
              </a:ext>
            </a:extLst>
          </p:cNvPr>
          <p:cNvSpPr txBox="1"/>
          <p:nvPr/>
        </p:nvSpPr>
        <p:spPr>
          <a:xfrm>
            <a:off x="1477961" y="4091897"/>
            <a:ext cx="23145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Покупатели автомобилей, желающие выбрать и заказать автомобиль онлайн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B1A19-52D3-C1F4-6673-17C2AC293C1B}"/>
              </a:ext>
            </a:extLst>
          </p:cNvPr>
          <p:cNvSpPr txBox="1"/>
          <p:nvPr/>
        </p:nvSpPr>
        <p:spPr>
          <a:xfrm>
            <a:off x="5705474" y="3044278"/>
            <a:ext cx="7810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👔</a:t>
            </a:r>
            <a:endParaRPr lang="ru-RU" sz="4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27179F-CD04-6DD9-057C-7EF13D04B713}"/>
              </a:ext>
            </a:extLst>
          </p:cNvPr>
          <p:cNvSpPr txBox="1"/>
          <p:nvPr/>
        </p:nvSpPr>
        <p:spPr>
          <a:xfrm>
            <a:off x="4938710" y="4086770"/>
            <a:ext cx="23145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Сотрудники автосалона, управляющие заказами и клиентами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6CB0AD-BF94-F1F0-852A-86DEB451DBF9}"/>
              </a:ext>
            </a:extLst>
          </p:cNvPr>
          <p:cNvSpPr txBox="1"/>
          <p:nvPr/>
        </p:nvSpPr>
        <p:spPr>
          <a:xfrm>
            <a:off x="5357811" y="3717438"/>
            <a:ext cx="147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667EEA"/>
                </a:solidFill>
              </a:rPr>
              <a:t>Менеджеры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2C7D15-3065-EA4D-AD2B-D08507BCBCF4}"/>
              </a:ext>
            </a:extLst>
          </p:cNvPr>
          <p:cNvSpPr txBox="1"/>
          <p:nvPr/>
        </p:nvSpPr>
        <p:spPr>
          <a:xfrm>
            <a:off x="1897062" y="3704478"/>
            <a:ext cx="147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667EEA"/>
                </a:solidFill>
              </a:rPr>
              <a:t>Клиенты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69285D-0892-8416-C830-8F06AFD80CD3}"/>
              </a:ext>
            </a:extLst>
          </p:cNvPr>
          <p:cNvSpPr txBox="1"/>
          <p:nvPr/>
        </p:nvSpPr>
        <p:spPr>
          <a:xfrm>
            <a:off x="8508998" y="37174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667EEA"/>
                </a:solidFill>
              </a:rPr>
              <a:t>Администраторы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C3D53B-E463-9366-99FC-15CAA426598A}"/>
              </a:ext>
            </a:extLst>
          </p:cNvPr>
          <p:cNvSpPr txBox="1"/>
          <p:nvPr/>
        </p:nvSpPr>
        <p:spPr>
          <a:xfrm>
            <a:off x="9166223" y="3053318"/>
            <a:ext cx="7810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🔧</a:t>
            </a:r>
            <a:endParaRPr lang="ru-RU" sz="4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AFF959-7EDE-D6C3-6FC6-7574A82D4B6E}"/>
              </a:ext>
            </a:extLst>
          </p:cNvPr>
          <p:cNvSpPr txBox="1"/>
          <p:nvPr/>
        </p:nvSpPr>
        <p:spPr>
          <a:xfrm>
            <a:off x="8399460" y="4073810"/>
            <a:ext cx="23145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Управляющий персонал, контролирующий работу системы и данные</a:t>
            </a:r>
          </a:p>
        </p:txBody>
      </p:sp>
    </p:spTree>
    <p:extLst>
      <p:ext uri="{BB962C8B-B14F-4D97-AF65-F5344CB8AC3E}">
        <p14:creationId xmlns:p14="http://schemas.microsoft.com/office/powerpoint/2010/main" val="3247638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44147E6-B971-F8F6-F233-938C4165EE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85E700-46B2-FA25-78F3-CFE62DEC5D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667EEA"/>
              </a:gs>
              <a:gs pos="0">
                <a:srgbClr val="764BA2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185DBFD-DEF3-3C35-BF40-68BB3AC62DDD}"/>
              </a:ext>
            </a:extLst>
          </p:cNvPr>
          <p:cNvSpPr/>
          <p:nvPr/>
        </p:nvSpPr>
        <p:spPr>
          <a:xfrm>
            <a:off x="711201" y="558800"/>
            <a:ext cx="10782300" cy="5753099"/>
          </a:xfrm>
          <a:prstGeom prst="roundRect">
            <a:avLst>
              <a:gd name="adj" fmla="val 3201"/>
            </a:avLst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FF5F0-9C40-DFB5-AFD8-9D632A3AF896}"/>
              </a:ext>
            </a:extLst>
          </p:cNvPr>
          <p:cNvSpPr txBox="1"/>
          <p:nvPr/>
        </p:nvSpPr>
        <p:spPr>
          <a:xfrm>
            <a:off x="5483226" y="889507"/>
            <a:ext cx="1238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667EEA"/>
                </a:solidFill>
              </a:rPr>
              <a:t>Цель</a:t>
            </a:r>
            <a:endParaRPr lang="ru-RU" sz="2000" dirty="0">
              <a:solidFill>
                <a:srgbClr val="667EEA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46488FD-C551-7ABF-7523-CCB65DA81D9A}"/>
              </a:ext>
            </a:extLst>
          </p:cNvPr>
          <p:cNvSpPr/>
          <p:nvPr/>
        </p:nvSpPr>
        <p:spPr>
          <a:xfrm>
            <a:off x="10062366" y="851407"/>
            <a:ext cx="1069183" cy="330488"/>
          </a:xfrm>
          <a:prstGeom prst="roundRect">
            <a:avLst>
              <a:gd name="adj" fmla="val 42728"/>
            </a:avLst>
          </a:prstGeom>
          <a:gradFill flip="none" rotWithShape="1">
            <a:gsLst>
              <a:gs pos="0">
                <a:srgbClr val="667EEA">
                  <a:lumMod val="100000"/>
                </a:srgbClr>
              </a:gs>
              <a:gs pos="100000">
                <a:srgbClr val="764BA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8F9FA"/>
                </a:solidFill>
              </a:rPr>
              <a:t>4</a:t>
            </a:r>
            <a:r>
              <a:rPr lang="en-US" dirty="0">
                <a:solidFill>
                  <a:srgbClr val="F8F9FA"/>
                </a:solidFill>
              </a:rPr>
              <a:t>/9</a:t>
            </a:r>
            <a:endParaRPr lang="ru-RU" dirty="0">
              <a:solidFill>
                <a:srgbClr val="F8F9FA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38A6EDB-E7A9-4277-A745-0EABFC995110}"/>
              </a:ext>
            </a:extLst>
          </p:cNvPr>
          <p:cNvSpPr/>
          <p:nvPr/>
        </p:nvSpPr>
        <p:spPr>
          <a:xfrm>
            <a:off x="1611517" y="2393168"/>
            <a:ext cx="9266034" cy="29998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84E2A-BFA3-7E60-7BF8-719169D10BDD}"/>
              </a:ext>
            </a:extLst>
          </p:cNvPr>
          <p:cNvSpPr txBox="1"/>
          <p:nvPr/>
        </p:nvSpPr>
        <p:spPr>
          <a:xfrm>
            <a:off x="1946276" y="2877427"/>
            <a:ext cx="4762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Разработать веб-приложение, которое будет обеспечивать автоматизацию процессов управления автосалоном, включая каталог автомобилей, онлайн-конфигуратор, систему заказов и административную панель для управления данными.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D6411A-BA68-40EA-A95C-AFACC6A03FEF}"/>
              </a:ext>
            </a:extLst>
          </p:cNvPr>
          <p:cNvSpPr txBox="1"/>
          <p:nvPr/>
        </p:nvSpPr>
        <p:spPr>
          <a:xfrm>
            <a:off x="8839991" y="2785093"/>
            <a:ext cx="122237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3800" dirty="0"/>
              <a:t>🎯</a:t>
            </a:r>
          </a:p>
        </p:txBody>
      </p:sp>
    </p:spTree>
    <p:extLst>
      <p:ext uri="{BB962C8B-B14F-4D97-AF65-F5344CB8AC3E}">
        <p14:creationId xmlns:p14="http://schemas.microsoft.com/office/powerpoint/2010/main" val="4291114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5903DEC-08E6-FDE4-36E8-386F980082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E418D9B-4DBB-E826-64AE-69EAAF27FD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667EEA"/>
              </a:gs>
              <a:gs pos="0">
                <a:srgbClr val="764BA2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2FB1DE0-D0FC-26A0-B22D-69C1A2534274}"/>
              </a:ext>
            </a:extLst>
          </p:cNvPr>
          <p:cNvSpPr/>
          <p:nvPr/>
        </p:nvSpPr>
        <p:spPr>
          <a:xfrm>
            <a:off x="711201" y="558800"/>
            <a:ext cx="10782300" cy="5753099"/>
          </a:xfrm>
          <a:prstGeom prst="roundRect">
            <a:avLst>
              <a:gd name="adj" fmla="val 3201"/>
            </a:avLst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0A4DC94-BFE8-1D62-9DCE-964245A0198F}"/>
              </a:ext>
            </a:extLst>
          </p:cNvPr>
          <p:cNvSpPr/>
          <p:nvPr/>
        </p:nvSpPr>
        <p:spPr>
          <a:xfrm>
            <a:off x="10062366" y="851407"/>
            <a:ext cx="1069183" cy="330488"/>
          </a:xfrm>
          <a:prstGeom prst="roundRect">
            <a:avLst>
              <a:gd name="adj" fmla="val 42728"/>
            </a:avLst>
          </a:prstGeom>
          <a:gradFill flip="none" rotWithShape="1">
            <a:gsLst>
              <a:gs pos="0">
                <a:srgbClr val="667EEA">
                  <a:lumMod val="100000"/>
                </a:srgbClr>
              </a:gs>
              <a:gs pos="100000">
                <a:srgbClr val="764BA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8F9FA"/>
                </a:solidFill>
              </a:rPr>
              <a:t>5</a:t>
            </a:r>
            <a:r>
              <a:rPr lang="en-US" dirty="0">
                <a:solidFill>
                  <a:srgbClr val="F8F9FA"/>
                </a:solidFill>
              </a:rPr>
              <a:t>/9</a:t>
            </a:r>
            <a:endParaRPr lang="ru-RU" dirty="0">
              <a:solidFill>
                <a:srgbClr val="F8F9F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BB72D-CD47-6B5F-4140-96EB03F413F2}"/>
              </a:ext>
            </a:extLst>
          </p:cNvPr>
          <p:cNvSpPr txBox="1"/>
          <p:nvPr/>
        </p:nvSpPr>
        <p:spPr>
          <a:xfrm>
            <a:off x="5280025" y="889507"/>
            <a:ext cx="1631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667EEA"/>
                </a:solidFill>
              </a:rPr>
              <a:t>Задачи</a:t>
            </a:r>
            <a:endParaRPr lang="ru-RU" sz="2000" dirty="0">
              <a:solidFill>
                <a:srgbClr val="667EEA"/>
              </a:solidFill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0A928806-F814-1491-5A5F-6FAF660BDBC3}"/>
              </a:ext>
            </a:extLst>
          </p:cNvPr>
          <p:cNvGrpSpPr/>
          <p:nvPr/>
        </p:nvGrpSpPr>
        <p:grpSpPr>
          <a:xfrm>
            <a:off x="1687717" y="2442409"/>
            <a:ext cx="3744708" cy="584776"/>
            <a:chOff x="1611517" y="2393169"/>
            <a:chExt cx="3744708" cy="58477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5A658B29-9B7E-5B12-B85F-F7C3167B783F}"/>
                </a:ext>
              </a:extLst>
            </p:cNvPr>
            <p:cNvSpPr/>
            <p:nvPr/>
          </p:nvSpPr>
          <p:spPr>
            <a:xfrm>
              <a:off x="1611517" y="2393169"/>
              <a:ext cx="3668508" cy="584776"/>
            </a:xfrm>
            <a:prstGeom prst="roundRect">
              <a:avLst/>
            </a:prstGeom>
            <a:solidFill>
              <a:srgbClr val="764BA2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96861C86-9CA4-335B-1CC5-D25F07F7416C}"/>
                </a:ext>
              </a:extLst>
            </p:cNvPr>
            <p:cNvSpPr/>
            <p:nvPr/>
          </p:nvSpPr>
          <p:spPr>
            <a:xfrm>
              <a:off x="1687717" y="2393169"/>
              <a:ext cx="3668508" cy="5847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B2D357EC-EB5D-6D01-651A-46C950D658C4}"/>
              </a:ext>
            </a:extLst>
          </p:cNvPr>
          <p:cNvGrpSpPr/>
          <p:nvPr/>
        </p:nvGrpSpPr>
        <p:grpSpPr>
          <a:xfrm>
            <a:off x="1687717" y="3308314"/>
            <a:ext cx="3744708" cy="584776"/>
            <a:chOff x="1611517" y="2393169"/>
            <a:chExt cx="3744708" cy="584776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AC4B6EDD-DFF5-845A-7699-B6FEDF249307}"/>
                </a:ext>
              </a:extLst>
            </p:cNvPr>
            <p:cNvSpPr/>
            <p:nvPr/>
          </p:nvSpPr>
          <p:spPr>
            <a:xfrm>
              <a:off x="1611517" y="2393169"/>
              <a:ext cx="3668508" cy="584776"/>
            </a:xfrm>
            <a:prstGeom prst="roundRect">
              <a:avLst/>
            </a:prstGeom>
            <a:solidFill>
              <a:srgbClr val="764BA2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66EB3D6D-395E-E9BD-B71D-D12C86E899EE}"/>
                </a:ext>
              </a:extLst>
            </p:cNvPr>
            <p:cNvSpPr/>
            <p:nvPr/>
          </p:nvSpPr>
          <p:spPr>
            <a:xfrm>
              <a:off x="1687717" y="2393169"/>
              <a:ext cx="3668508" cy="5847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9BF87FDD-EED0-8DB7-730C-98C5F3DDE3F3}"/>
              </a:ext>
            </a:extLst>
          </p:cNvPr>
          <p:cNvGrpSpPr/>
          <p:nvPr/>
        </p:nvGrpSpPr>
        <p:grpSpPr>
          <a:xfrm>
            <a:off x="1687717" y="4174219"/>
            <a:ext cx="3744708" cy="584776"/>
            <a:chOff x="1611517" y="2393169"/>
            <a:chExt cx="3744708" cy="584776"/>
          </a:xfrm>
        </p:grpSpPr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8EDA5365-2F04-B082-C8BD-7BE900BE0F78}"/>
                </a:ext>
              </a:extLst>
            </p:cNvPr>
            <p:cNvSpPr/>
            <p:nvPr/>
          </p:nvSpPr>
          <p:spPr>
            <a:xfrm>
              <a:off x="1611517" y="2393169"/>
              <a:ext cx="3668508" cy="584776"/>
            </a:xfrm>
            <a:prstGeom prst="roundRect">
              <a:avLst/>
            </a:prstGeom>
            <a:solidFill>
              <a:srgbClr val="764BA2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BCD7225C-EF7D-E906-A9C4-EEB39F2BF64D}"/>
                </a:ext>
              </a:extLst>
            </p:cNvPr>
            <p:cNvSpPr/>
            <p:nvPr/>
          </p:nvSpPr>
          <p:spPr>
            <a:xfrm>
              <a:off x="1687717" y="2393169"/>
              <a:ext cx="3668508" cy="5847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9F60A1D9-AEC4-6668-1858-18820A4EC30A}"/>
              </a:ext>
            </a:extLst>
          </p:cNvPr>
          <p:cNvGrpSpPr/>
          <p:nvPr/>
        </p:nvGrpSpPr>
        <p:grpSpPr>
          <a:xfrm>
            <a:off x="1687717" y="5040124"/>
            <a:ext cx="3744708" cy="584776"/>
            <a:chOff x="1611517" y="2393169"/>
            <a:chExt cx="3744708" cy="584776"/>
          </a:xfrm>
        </p:grpSpPr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26018197-804B-2AF4-EE12-90525220427B}"/>
                </a:ext>
              </a:extLst>
            </p:cNvPr>
            <p:cNvSpPr/>
            <p:nvPr/>
          </p:nvSpPr>
          <p:spPr>
            <a:xfrm>
              <a:off x="1611517" y="2393169"/>
              <a:ext cx="3668508" cy="584776"/>
            </a:xfrm>
            <a:prstGeom prst="roundRect">
              <a:avLst/>
            </a:prstGeom>
            <a:solidFill>
              <a:srgbClr val="764BA2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A4B2D63F-AE4D-1BE3-B7CB-EC933DE91911}"/>
                </a:ext>
              </a:extLst>
            </p:cNvPr>
            <p:cNvSpPr/>
            <p:nvPr/>
          </p:nvSpPr>
          <p:spPr>
            <a:xfrm>
              <a:off x="1687717" y="2393169"/>
              <a:ext cx="3668508" cy="5847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</p:grpSp>
      <p:sp>
        <p:nvSpPr>
          <p:cNvPr id="57" name="Овал 56">
            <a:extLst>
              <a:ext uri="{FF2B5EF4-FFF2-40B4-BE49-F238E27FC236}">
                <a16:creationId xmlns:a16="http://schemas.microsoft.com/office/drawing/2014/main" id="{8832541C-A45A-1E7D-637F-EEDC941CBECC}"/>
              </a:ext>
            </a:extLst>
          </p:cNvPr>
          <p:cNvSpPr/>
          <p:nvPr/>
        </p:nvSpPr>
        <p:spPr>
          <a:xfrm>
            <a:off x="1876425" y="2552700"/>
            <a:ext cx="371475" cy="371475"/>
          </a:xfrm>
          <a:prstGeom prst="ellipse">
            <a:avLst/>
          </a:prstGeom>
          <a:gradFill flip="none" rotWithShape="1">
            <a:gsLst>
              <a:gs pos="100000">
                <a:srgbClr val="F5576C"/>
              </a:gs>
              <a:gs pos="0">
                <a:srgbClr val="F093FB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1</a:t>
            </a:r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A7A47E7F-A15A-8496-9383-D9487C1CCFBF}"/>
              </a:ext>
            </a:extLst>
          </p:cNvPr>
          <p:cNvSpPr/>
          <p:nvPr/>
        </p:nvSpPr>
        <p:spPr>
          <a:xfrm>
            <a:off x="1876425" y="3415833"/>
            <a:ext cx="371475" cy="371475"/>
          </a:xfrm>
          <a:prstGeom prst="ellipse">
            <a:avLst/>
          </a:prstGeom>
          <a:gradFill flip="none" rotWithShape="1">
            <a:gsLst>
              <a:gs pos="100000">
                <a:srgbClr val="F5576C"/>
              </a:gs>
              <a:gs pos="0">
                <a:srgbClr val="F093FB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3</a:t>
            </a:r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3C6794B7-29BF-7230-67CD-3B30589A3D22}"/>
              </a:ext>
            </a:extLst>
          </p:cNvPr>
          <p:cNvSpPr/>
          <p:nvPr/>
        </p:nvSpPr>
        <p:spPr>
          <a:xfrm>
            <a:off x="1876425" y="4276071"/>
            <a:ext cx="371475" cy="371475"/>
          </a:xfrm>
          <a:prstGeom prst="ellipse">
            <a:avLst/>
          </a:prstGeom>
          <a:gradFill flip="none" rotWithShape="1">
            <a:gsLst>
              <a:gs pos="100000">
                <a:srgbClr val="F5576C"/>
              </a:gs>
              <a:gs pos="0">
                <a:srgbClr val="F093FB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5</a:t>
            </a:r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B394260C-658A-0066-2B5C-5E8BD39CA81F}"/>
              </a:ext>
            </a:extLst>
          </p:cNvPr>
          <p:cNvSpPr/>
          <p:nvPr/>
        </p:nvSpPr>
        <p:spPr>
          <a:xfrm>
            <a:off x="1876425" y="5144127"/>
            <a:ext cx="371475" cy="371475"/>
          </a:xfrm>
          <a:prstGeom prst="ellipse">
            <a:avLst/>
          </a:prstGeom>
          <a:gradFill flip="none" rotWithShape="1">
            <a:gsLst>
              <a:gs pos="100000">
                <a:srgbClr val="F5576C"/>
              </a:gs>
              <a:gs pos="0">
                <a:srgbClr val="F093FB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7</a:t>
            </a:r>
          </a:p>
        </p:txBody>
      </p: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B8762F73-CA6F-E678-6F12-3CB3B6CD2EE4}"/>
              </a:ext>
            </a:extLst>
          </p:cNvPr>
          <p:cNvGrpSpPr/>
          <p:nvPr/>
        </p:nvGrpSpPr>
        <p:grpSpPr>
          <a:xfrm>
            <a:off x="6759577" y="2442409"/>
            <a:ext cx="3744708" cy="584776"/>
            <a:chOff x="1611517" y="2393169"/>
            <a:chExt cx="3744708" cy="584776"/>
          </a:xfrm>
        </p:grpSpPr>
        <p:sp>
          <p:nvSpPr>
            <p:cNvPr id="101" name="Прямоугольник: скругленные углы 100">
              <a:extLst>
                <a:ext uri="{FF2B5EF4-FFF2-40B4-BE49-F238E27FC236}">
                  <a16:creationId xmlns:a16="http://schemas.microsoft.com/office/drawing/2014/main" id="{A7D6D03F-6E51-3B91-09E1-79A4F29C1A08}"/>
                </a:ext>
              </a:extLst>
            </p:cNvPr>
            <p:cNvSpPr/>
            <p:nvPr/>
          </p:nvSpPr>
          <p:spPr>
            <a:xfrm>
              <a:off x="1611517" y="2393169"/>
              <a:ext cx="3668508" cy="584776"/>
            </a:xfrm>
            <a:prstGeom prst="roundRect">
              <a:avLst/>
            </a:prstGeom>
            <a:solidFill>
              <a:srgbClr val="764BA2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  <p:sp>
          <p:nvSpPr>
            <p:cNvPr id="102" name="Прямоугольник: скругленные углы 101">
              <a:extLst>
                <a:ext uri="{FF2B5EF4-FFF2-40B4-BE49-F238E27FC236}">
                  <a16:creationId xmlns:a16="http://schemas.microsoft.com/office/drawing/2014/main" id="{6F5F7294-3E0E-6093-5AC4-8C1FC4CD8CD1}"/>
                </a:ext>
              </a:extLst>
            </p:cNvPr>
            <p:cNvSpPr/>
            <p:nvPr/>
          </p:nvSpPr>
          <p:spPr>
            <a:xfrm>
              <a:off x="1687717" y="2393169"/>
              <a:ext cx="3668508" cy="5847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</p:grp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CAD2519C-7608-021F-A3E4-D57C4C636060}"/>
              </a:ext>
            </a:extLst>
          </p:cNvPr>
          <p:cNvGrpSpPr/>
          <p:nvPr/>
        </p:nvGrpSpPr>
        <p:grpSpPr>
          <a:xfrm>
            <a:off x="6759577" y="3308314"/>
            <a:ext cx="3744708" cy="584776"/>
            <a:chOff x="1611517" y="2393169"/>
            <a:chExt cx="3744708" cy="584776"/>
          </a:xfrm>
        </p:grpSpPr>
        <p:sp>
          <p:nvSpPr>
            <p:cNvPr id="104" name="Прямоугольник: скругленные углы 103">
              <a:extLst>
                <a:ext uri="{FF2B5EF4-FFF2-40B4-BE49-F238E27FC236}">
                  <a16:creationId xmlns:a16="http://schemas.microsoft.com/office/drawing/2014/main" id="{9A671440-81CA-9496-19CD-C64F4ECD7BD4}"/>
                </a:ext>
              </a:extLst>
            </p:cNvPr>
            <p:cNvSpPr/>
            <p:nvPr/>
          </p:nvSpPr>
          <p:spPr>
            <a:xfrm>
              <a:off x="1611517" y="2393169"/>
              <a:ext cx="3668508" cy="584776"/>
            </a:xfrm>
            <a:prstGeom prst="roundRect">
              <a:avLst/>
            </a:prstGeom>
            <a:solidFill>
              <a:srgbClr val="764BA2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  <p:sp>
          <p:nvSpPr>
            <p:cNvPr id="105" name="Прямоугольник: скругленные углы 104">
              <a:extLst>
                <a:ext uri="{FF2B5EF4-FFF2-40B4-BE49-F238E27FC236}">
                  <a16:creationId xmlns:a16="http://schemas.microsoft.com/office/drawing/2014/main" id="{8DC7DA46-0CD5-FE10-20B9-E2A238E38E8E}"/>
                </a:ext>
              </a:extLst>
            </p:cNvPr>
            <p:cNvSpPr/>
            <p:nvPr/>
          </p:nvSpPr>
          <p:spPr>
            <a:xfrm>
              <a:off x="1687717" y="2393169"/>
              <a:ext cx="3668508" cy="5847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8262BEF5-B047-CD96-C4AE-D7900EE9A63B}"/>
              </a:ext>
            </a:extLst>
          </p:cNvPr>
          <p:cNvGrpSpPr/>
          <p:nvPr/>
        </p:nvGrpSpPr>
        <p:grpSpPr>
          <a:xfrm>
            <a:off x="6759577" y="4174219"/>
            <a:ext cx="3744708" cy="584776"/>
            <a:chOff x="1611517" y="2393169"/>
            <a:chExt cx="3744708" cy="584776"/>
          </a:xfrm>
        </p:grpSpPr>
        <p:sp>
          <p:nvSpPr>
            <p:cNvPr id="107" name="Прямоугольник: скругленные углы 106">
              <a:extLst>
                <a:ext uri="{FF2B5EF4-FFF2-40B4-BE49-F238E27FC236}">
                  <a16:creationId xmlns:a16="http://schemas.microsoft.com/office/drawing/2014/main" id="{155D0210-7670-A343-96A6-914D9A9BB928}"/>
                </a:ext>
              </a:extLst>
            </p:cNvPr>
            <p:cNvSpPr/>
            <p:nvPr/>
          </p:nvSpPr>
          <p:spPr>
            <a:xfrm>
              <a:off x="1611517" y="2393169"/>
              <a:ext cx="3668508" cy="584776"/>
            </a:xfrm>
            <a:prstGeom prst="roundRect">
              <a:avLst/>
            </a:prstGeom>
            <a:solidFill>
              <a:srgbClr val="764BA2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  <p:sp>
          <p:nvSpPr>
            <p:cNvPr id="108" name="Прямоугольник: скругленные углы 107">
              <a:extLst>
                <a:ext uri="{FF2B5EF4-FFF2-40B4-BE49-F238E27FC236}">
                  <a16:creationId xmlns:a16="http://schemas.microsoft.com/office/drawing/2014/main" id="{CA3E757D-B6E7-EA50-03D2-CAB5CE66489D}"/>
                </a:ext>
              </a:extLst>
            </p:cNvPr>
            <p:cNvSpPr/>
            <p:nvPr/>
          </p:nvSpPr>
          <p:spPr>
            <a:xfrm>
              <a:off x="1687717" y="2393169"/>
              <a:ext cx="3668508" cy="5847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</p:grpSp>
      <p:grpSp>
        <p:nvGrpSpPr>
          <p:cNvPr id="109" name="Группа 108">
            <a:extLst>
              <a:ext uri="{FF2B5EF4-FFF2-40B4-BE49-F238E27FC236}">
                <a16:creationId xmlns:a16="http://schemas.microsoft.com/office/drawing/2014/main" id="{055F7A62-DBC3-CC14-F132-CC7BF7A0A19E}"/>
              </a:ext>
            </a:extLst>
          </p:cNvPr>
          <p:cNvGrpSpPr/>
          <p:nvPr/>
        </p:nvGrpSpPr>
        <p:grpSpPr>
          <a:xfrm>
            <a:off x="6759577" y="5040124"/>
            <a:ext cx="3744708" cy="584776"/>
            <a:chOff x="1611517" y="2393169"/>
            <a:chExt cx="3744708" cy="584776"/>
          </a:xfrm>
        </p:grpSpPr>
        <p:sp>
          <p:nvSpPr>
            <p:cNvPr id="110" name="Прямоугольник: скругленные углы 109">
              <a:extLst>
                <a:ext uri="{FF2B5EF4-FFF2-40B4-BE49-F238E27FC236}">
                  <a16:creationId xmlns:a16="http://schemas.microsoft.com/office/drawing/2014/main" id="{44A10980-1C14-FAD8-3356-1317B3B2A37F}"/>
                </a:ext>
              </a:extLst>
            </p:cNvPr>
            <p:cNvSpPr/>
            <p:nvPr/>
          </p:nvSpPr>
          <p:spPr>
            <a:xfrm>
              <a:off x="1611517" y="2393169"/>
              <a:ext cx="3668508" cy="584776"/>
            </a:xfrm>
            <a:prstGeom prst="roundRect">
              <a:avLst/>
            </a:prstGeom>
            <a:solidFill>
              <a:srgbClr val="764BA2"/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  <p:sp>
          <p:nvSpPr>
            <p:cNvPr id="111" name="Прямоугольник: скругленные углы 110">
              <a:extLst>
                <a:ext uri="{FF2B5EF4-FFF2-40B4-BE49-F238E27FC236}">
                  <a16:creationId xmlns:a16="http://schemas.microsoft.com/office/drawing/2014/main" id="{6E0ACEA8-A6CA-A0F6-7042-876190F4E5EC}"/>
                </a:ext>
              </a:extLst>
            </p:cNvPr>
            <p:cNvSpPr/>
            <p:nvPr/>
          </p:nvSpPr>
          <p:spPr>
            <a:xfrm>
              <a:off x="1687717" y="2393169"/>
              <a:ext cx="3668508" cy="5847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2125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212529"/>
                </a:solidFill>
              </a:endParaRPr>
            </a:p>
          </p:txBody>
        </p:sp>
      </p:grpSp>
      <p:sp>
        <p:nvSpPr>
          <p:cNvPr id="112" name="Овал 111">
            <a:extLst>
              <a:ext uri="{FF2B5EF4-FFF2-40B4-BE49-F238E27FC236}">
                <a16:creationId xmlns:a16="http://schemas.microsoft.com/office/drawing/2014/main" id="{812F3ECF-9768-AEE9-E6AB-6013C9B78BF7}"/>
              </a:ext>
            </a:extLst>
          </p:cNvPr>
          <p:cNvSpPr/>
          <p:nvPr/>
        </p:nvSpPr>
        <p:spPr>
          <a:xfrm>
            <a:off x="6948285" y="2552700"/>
            <a:ext cx="371475" cy="371475"/>
          </a:xfrm>
          <a:prstGeom prst="ellipse">
            <a:avLst/>
          </a:prstGeom>
          <a:gradFill flip="none" rotWithShape="1">
            <a:gsLst>
              <a:gs pos="100000">
                <a:srgbClr val="F5576C"/>
              </a:gs>
              <a:gs pos="0">
                <a:srgbClr val="F093FB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2</a:t>
            </a:r>
          </a:p>
        </p:txBody>
      </p:sp>
      <p:sp>
        <p:nvSpPr>
          <p:cNvPr id="113" name="Овал 112">
            <a:extLst>
              <a:ext uri="{FF2B5EF4-FFF2-40B4-BE49-F238E27FC236}">
                <a16:creationId xmlns:a16="http://schemas.microsoft.com/office/drawing/2014/main" id="{91E83EE8-A17E-9582-580E-E67E0CC349CA}"/>
              </a:ext>
            </a:extLst>
          </p:cNvPr>
          <p:cNvSpPr/>
          <p:nvPr/>
        </p:nvSpPr>
        <p:spPr>
          <a:xfrm>
            <a:off x="6948285" y="3415833"/>
            <a:ext cx="371475" cy="371475"/>
          </a:xfrm>
          <a:prstGeom prst="ellipse">
            <a:avLst/>
          </a:prstGeom>
          <a:gradFill flip="none" rotWithShape="1">
            <a:gsLst>
              <a:gs pos="100000">
                <a:srgbClr val="F5576C"/>
              </a:gs>
              <a:gs pos="0">
                <a:srgbClr val="F093FB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4</a:t>
            </a:r>
          </a:p>
        </p:txBody>
      </p:sp>
      <p:sp>
        <p:nvSpPr>
          <p:cNvPr id="114" name="Овал 113">
            <a:extLst>
              <a:ext uri="{FF2B5EF4-FFF2-40B4-BE49-F238E27FC236}">
                <a16:creationId xmlns:a16="http://schemas.microsoft.com/office/drawing/2014/main" id="{6E5A60AA-1863-2080-F048-AC14EE6135F0}"/>
              </a:ext>
            </a:extLst>
          </p:cNvPr>
          <p:cNvSpPr/>
          <p:nvPr/>
        </p:nvSpPr>
        <p:spPr>
          <a:xfrm>
            <a:off x="6948285" y="4276071"/>
            <a:ext cx="371475" cy="371475"/>
          </a:xfrm>
          <a:prstGeom prst="ellipse">
            <a:avLst/>
          </a:prstGeom>
          <a:gradFill flip="none" rotWithShape="1">
            <a:gsLst>
              <a:gs pos="100000">
                <a:srgbClr val="F5576C"/>
              </a:gs>
              <a:gs pos="0">
                <a:srgbClr val="F093FB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6</a:t>
            </a:r>
          </a:p>
        </p:txBody>
      </p:sp>
      <p:sp>
        <p:nvSpPr>
          <p:cNvPr id="115" name="Овал 114">
            <a:extLst>
              <a:ext uri="{FF2B5EF4-FFF2-40B4-BE49-F238E27FC236}">
                <a16:creationId xmlns:a16="http://schemas.microsoft.com/office/drawing/2014/main" id="{139060F3-5190-0F5E-7D1F-A3301BE47C60}"/>
              </a:ext>
            </a:extLst>
          </p:cNvPr>
          <p:cNvSpPr/>
          <p:nvPr/>
        </p:nvSpPr>
        <p:spPr>
          <a:xfrm>
            <a:off x="6948285" y="5144127"/>
            <a:ext cx="371475" cy="371475"/>
          </a:xfrm>
          <a:prstGeom prst="ellipse">
            <a:avLst/>
          </a:prstGeom>
          <a:gradFill flip="none" rotWithShape="1">
            <a:gsLst>
              <a:gs pos="100000">
                <a:srgbClr val="F5576C"/>
              </a:gs>
              <a:gs pos="0">
                <a:srgbClr val="F093FB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063C652-9C49-CAEC-94E3-9477D60C21FA}"/>
              </a:ext>
            </a:extLst>
          </p:cNvPr>
          <p:cNvSpPr txBox="1"/>
          <p:nvPr/>
        </p:nvSpPr>
        <p:spPr>
          <a:xfrm>
            <a:off x="2364479" y="2503964"/>
            <a:ext cx="2919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Анализ требований и проектирование архитектуры системы</a:t>
            </a:r>
            <a:endParaRPr lang="ru-RU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A7326DC-22F4-72CA-A51C-B2D8A21FDE6B}"/>
              </a:ext>
            </a:extLst>
          </p:cNvPr>
          <p:cNvSpPr txBox="1"/>
          <p:nvPr/>
        </p:nvSpPr>
        <p:spPr>
          <a:xfrm>
            <a:off x="2360408" y="3374888"/>
            <a:ext cx="2919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Создание REST API для взаимодействия с данными</a:t>
            </a:r>
            <a:endParaRPr lang="ru-RU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4A189FB-FF73-78D0-EC1E-A6406E250C51}"/>
              </a:ext>
            </a:extLst>
          </p:cNvPr>
          <p:cNvSpPr txBox="1"/>
          <p:nvPr/>
        </p:nvSpPr>
        <p:spPr>
          <a:xfrm>
            <a:off x="2342254" y="4230975"/>
            <a:ext cx="2919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Реализация онлайн-конфигуратора автомобилей</a:t>
            </a:r>
            <a:endParaRPr lang="ru-RU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6C444E9-7E3E-63A9-3EA2-8F44B55FD518}"/>
              </a:ext>
            </a:extLst>
          </p:cNvPr>
          <p:cNvSpPr txBox="1"/>
          <p:nvPr/>
        </p:nvSpPr>
        <p:spPr>
          <a:xfrm>
            <a:off x="2323898" y="5099031"/>
            <a:ext cx="2919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Разработка административной панели</a:t>
            </a:r>
            <a:endParaRPr lang="ru-RU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38ED15E-D7D5-F433-1115-7A0BE3641B52}"/>
              </a:ext>
            </a:extLst>
          </p:cNvPr>
          <p:cNvSpPr txBox="1"/>
          <p:nvPr/>
        </p:nvSpPr>
        <p:spPr>
          <a:xfrm>
            <a:off x="7395958" y="2503964"/>
            <a:ext cx="2919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Разработка структуры базы данных и моделей данных</a:t>
            </a:r>
            <a:endParaRPr lang="ru-RU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5C5BB0A-DC27-F812-A2AF-C83B394109E1}"/>
              </a:ext>
            </a:extLst>
          </p:cNvPr>
          <p:cNvSpPr txBox="1"/>
          <p:nvPr/>
        </p:nvSpPr>
        <p:spPr>
          <a:xfrm>
            <a:off x="7395956" y="3369869"/>
            <a:ext cx="2919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Разработка пользовательского интерфейса</a:t>
            </a:r>
            <a:endParaRPr lang="ru-RU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2B7B9C5-DEC1-E870-F07A-DE58B189192A}"/>
              </a:ext>
            </a:extLst>
          </p:cNvPr>
          <p:cNvSpPr txBox="1"/>
          <p:nvPr/>
        </p:nvSpPr>
        <p:spPr>
          <a:xfrm>
            <a:off x="7395956" y="4230975"/>
            <a:ext cx="2919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Создание системы управления заказами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6A37728-4A20-668D-E10E-0E0191F74F25}"/>
              </a:ext>
            </a:extLst>
          </p:cNvPr>
          <p:cNvSpPr txBox="1"/>
          <p:nvPr/>
        </p:nvSpPr>
        <p:spPr>
          <a:xfrm>
            <a:off x="7395955" y="5099030"/>
            <a:ext cx="2919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Интеграция систем отчетности и импорта данных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957513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4CC0F53-C897-6646-7355-EE4AC4F16E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173A5C7-C51B-6CD7-D3AA-FF458A1CFB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667EEA"/>
              </a:gs>
              <a:gs pos="0">
                <a:srgbClr val="764BA2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C8080A-8575-8ACB-15D6-6B51C67EFAAD}"/>
              </a:ext>
            </a:extLst>
          </p:cNvPr>
          <p:cNvSpPr/>
          <p:nvPr/>
        </p:nvSpPr>
        <p:spPr>
          <a:xfrm>
            <a:off x="704850" y="551460"/>
            <a:ext cx="10782300" cy="5753099"/>
          </a:xfrm>
          <a:prstGeom prst="roundRect">
            <a:avLst>
              <a:gd name="adj" fmla="val 3201"/>
            </a:avLst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3F0CC03-1D7E-E93C-CF8F-6279D4D3BCE3}"/>
              </a:ext>
            </a:extLst>
          </p:cNvPr>
          <p:cNvSpPr/>
          <p:nvPr/>
        </p:nvSpPr>
        <p:spPr>
          <a:xfrm>
            <a:off x="10062366" y="851407"/>
            <a:ext cx="1069183" cy="330488"/>
          </a:xfrm>
          <a:prstGeom prst="roundRect">
            <a:avLst>
              <a:gd name="adj" fmla="val 42728"/>
            </a:avLst>
          </a:prstGeom>
          <a:gradFill flip="none" rotWithShape="1">
            <a:gsLst>
              <a:gs pos="0">
                <a:srgbClr val="667EEA">
                  <a:lumMod val="100000"/>
                </a:srgbClr>
              </a:gs>
              <a:gs pos="100000">
                <a:srgbClr val="764BA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8F9FA"/>
                </a:solidFill>
              </a:rPr>
              <a:t>6</a:t>
            </a:r>
            <a:r>
              <a:rPr lang="en-US" dirty="0">
                <a:solidFill>
                  <a:srgbClr val="F8F9FA"/>
                </a:solidFill>
              </a:rPr>
              <a:t>/9</a:t>
            </a:r>
            <a:endParaRPr lang="ru-RU" dirty="0">
              <a:solidFill>
                <a:srgbClr val="F8F9F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9EDDB-413A-F1FF-5361-8949BF2BEA4B}"/>
              </a:ext>
            </a:extLst>
          </p:cNvPr>
          <p:cNvSpPr txBox="1"/>
          <p:nvPr/>
        </p:nvSpPr>
        <p:spPr>
          <a:xfrm>
            <a:off x="3773488" y="889507"/>
            <a:ext cx="4645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667EEA"/>
                </a:solidFill>
              </a:rPr>
              <a:t>Средства разработки</a:t>
            </a:r>
            <a:endParaRPr lang="ru-RU" sz="2000" dirty="0">
              <a:solidFill>
                <a:srgbClr val="667EEA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39B5159-C835-49FE-D0F7-A5DC5BB1E072}"/>
              </a:ext>
            </a:extLst>
          </p:cNvPr>
          <p:cNvSpPr/>
          <p:nvPr/>
        </p:nvSpPr>
        <p:spPr>
          <a:xfrm>
            <a:off x="1611517" y="2050916"/>
            <a:ext cx="3484358" cy="1578758"/>
          </a:xfrm>
          <a:prstGeom prst="roundRect">
            <a:avLst/>
          </a:prstGeom>
          <a:gradFill flip="none" rotWithShape="1">
            <a:gsLst>
              <a:gs pos="0">
                <a:srgbClr val="F5F7FA"/>
              </a:gs>
              <a:gs pos="100000">
                <a:srgbClr val="C3CFE2"/>
              </a:gs>
            </a:gsLst>
            <a:lin ang="2700000" scaled="1"/>
            <a:tileRect/>
          </a:gra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D99171D-6AD1-5AB9-FEF0-4500E5C96DBF}"/>
              </a:ext>
            </a:extLst>
          </p:cNvPr>
          <p:cNvSpPr/>
          <p:nvPr/>
        </p:nvSpPr>
        <p:spPr>
          <a:xfrm>
            <a:off x="1611517" y="4275161"/>
            <a:ext cx="3484358" cy="1578757"/>
          </a:xfrm>
          <a:prstGeom prst="roundRect">
            <a:avLst/>
          </a:prstGeom>
          <a:gradFill flip="none" rotWithShape="1">
            <a:gsLst>
              <a:gs pos="0">
                <a:srgbClr val="F5F7FA"/>
              </a:gs>
              <a:gs pos="100000">
                <a:srgbClr val="C3CFE2"/>
              </a:gs>
            </a:gsLst>
            <a:lin ang="2700000" scaled="1"/>
            <a:tileRect/>
          </a:gra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4A49FF5-E097-5BAE-03C8-554F3EEFAF38}"/>
              </a:ext>
            </a:extLst>
          </p:cNvPr>
          <p:cNvSpPr/>
          <p:nvPr/>
        </p:nvSpPr>
        <p:spPr>
          <a:xfrm>
            <a:off x="7096127" y="2033084"/>
            <a:ext cx="3484356" cy="1578757"/>
          </a:xfrm>
          <a:prstGeom prst="roundRect">
            <a:avLst/>
          </a:prstGeom>
          <a:gradFill flip="none" rotWithShape="1">
            <a:gsLst>
              <a:gs pos="0">
                <a:srgbClr val="F5F7FA"/>
              </a:gs>
              <a:gs pos="100000">
                <a:srgbClr val="C3CFE2"/>
              </a:gs>
            </a:gsLst>
            <a:lin ang="2700000" scaled="1"/>
            <a:tileRect/>
          </a:gra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D9C5230-7B80-FD50-F089-AA304FBE5E0E}"/>
              </a:ext>
            </a:extLst>
          </p:cNvPr>
          <p:cNvSpPr/>
          <p:nvPr/>
        </p:nvSpPr>
        <p:spPr>
          <a:xfrm>
            <a:off x="7096127" y="4267454"/>
            <a:ext cx="3484356" cy="1578757"/>
          </a:xfrm>
          <a:prstGeom prst="roundRect">
            <a:avLst/>
          </a:prstGeom>
          <a:gradFill flip="none" rotWithShape="1">
            <a:gsLst>
              <a:gs pos="0">
                <a:srgbClr val="F5F7FA"/>
              </a:gs>
              <a:gs pos="100000">
                <a:srgbClr val="C3CFE2"/>
              </a:gs>
            </a:gsLst>
            <a:lin ang="2700000" scaled="1"/>
            <a:tileRect/>
          </a:gra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BA43E42-5175-4592-EB01-A4381676E372}"/>
              </a:ext>
            </a:extLst>
          </p:cNvPr>
          <p:cNvSpPr/>
          <p:nvPr/>
        </p:nvSpPr>
        <p:spPr>
          <a:xfrm>
            <a:off x="1859168" y="2668605"/>
            <a:ext cx="1236716" cy="759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DD5521A-EE20-6A22-8CD2-1EFC8F49F66F}"/>
              </a:ext>
            </a:extLst>
          </p:cNvPr>
          <p:cNvSpPr/>
          <p:nvPr/>
        </p:nvSpPr>
        <p:spPr>
          <a:xfrm>
            <a:off x="3550061" y="2668605"/>
            <a:ext cx="1236716" cy="759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F9712BA5-04FE-1A82-7BAB-B27C6BD6B92F}"/>
              </a:ext>
            </a:extLst>
          </p:cNvPr>
          <p:cNvSpPr/>
          <p:nvPr/>
        </p:nvSpPr>
        <p:spPr>
          <a:xfrm>
            <a:off x="7355093" y="2872802"/>
            <a:ext cx="1236716" cy="55520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54085726-DC73-2417-8514-7F25EF3CA923}"/>
              </a:ext>
            </a:extLst>
          </p:cNvPr>
          <p:cNvSpPr/>
          <p:nvPr/>
        </p:nvSpPr>
        <p:spPr>
          <a:xfrm>
            <a:off x="9074659" y="2872802"/>
            <a:ext cx="1236716" cy="55520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F5A6DD8-A74F-3E56-89D9-34CD931CD645}"/>
              </a:ext>
            </a:extLst>
          </p:cNvPr>
          <p:cNvSpPr/>
          <p:nvPr/>
        </p:nvSpPr>
        <p:spPr>
          <a:xfrm>
            <a:off x="7355094" y="2498035"/>
            <a:ext cx="1236715" cy="34226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380FEE11-2C6B-C1B6-B6B6-992D4C774D83}"/>
              </a:ext>
            </a:extLst>
          </p:cNvPr>
          <p:cNvSpPr/>
          <p:nvPr/>
        </p:nvSpPr>
        <p:spPr>
          <a:xfrm>
            <a:off x="9074659" y="2498034"/>
            <a:ext cx="1236715" cy="34226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8793C88-0E81-AAF5-77E2-4E4311657993}"/>
              </a:ext>
            </a:extLst>
          </p:cNvPr>
          <p:cNvSpPr/>
          <p:nvPr/>
        </p:nvSpPr>
        <p:spPr>
          <a:xfrm>
            <a:off x="3550060" y="5301955"/>
            <a:ext cx="1236715" cy="34226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5439256-844B-01A4-F4E2-A4C5262515F6}"/>
              </a:ext>
            </a:extLst>
          </p:cNvPr>
          <p:cNvSpPr/>
          <p:nvPr/>
        </p:nvSpPr>
        <p:spPr>
          <a:xfrm>
            <a:off x="3550060" y="4749993"/>
            <a:ext cx="1236715" cy="34226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5F8C4E40-87FB-8215-329F-7930CD3D8E01}"/>
              </a:ext>
            </a:extLst>
          </p:cNvPr>
          <p:cNvSpPr/>
          <p:nvPr/>
        </p:nvSpPr>
        <p:spPr>
          <a:xfrm>
            <a:off x="1855216" y="5301955"/>
            <a:ext cx="1236715" cy="34226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73A9257-34BC-7564-001F-4AF37380B94A}"/>
              </a:ext>
            </a:extLst>
          </p:cNvPr>
          <p:cNvSpPr/>
          <p:nvPr/>
        </p:nvSpPr>
        <p:spPr>
          <a:xfrm>
            <a:off x="1854895" y="4749993"/>
            <a:ext cx="1236715" cy="34226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E1CB691F-4E3E-943E-57AA-2A5C1BB9723A}"/>
              </a:ext>
            </a:extLst>
          </p:cNvPr>
          <p:cNvSpPr/>
          <p:nvPr/>
        </p:nvSpPr>
        <p:spPr>
          <a:xfrm>
            <a:off x="7349893" y="4663300"/>
            <a:ext cx="1236716" cy="55520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D73D18CB-E3E5-DC11-88D4-7A3E350B9201}"/>
              </a:ext>
            </a:extLst>
          </p:cNvPr>
          <p:cNvSpPr/>
          <p:nvPr/>
        </p:nvSpPr>
        <p:spPr>
          <a:xfrm>
            <a:off x="9074659" y="4663301"/>
            <a:ext cx="1236716" cy="55520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B8095A6-11F5-5504-ABB3-105EE2F24E53}"/>
              </a:ext>
            </a:extLst>
          </p:cNvPr>
          <p:cNvSpPr/>
          <p:nvPr/>
        </p:nvSpPr>
        <p:spPr>
          <a:xfrm>
            <a:off x="9073634" y="5312835"/>
            <a:ext cx="1236715" cy="34226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9CCDA5FB-8BAF-A313-AB2F-780BB1C3B108}"/>
              </a:ext>
            </a:extLst>
          </p:cNvPr>
          <p:cNvSpPr/>
          <p:nvPr/>
        </p:nvSpPr>
        <p:spPr>
          <a:xfrm>
            <a:off x="7349894" y="5312836"/>
            <a:ext cx="1236715" cy="34226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85720-04F2-47A6-2A4E-86803590038B}"/>
              </a:ext>
            </a:extLst>
          </p:cNvPr>
          <p:cNvSpPr txBox="1"/>
          <p:nvPr/>
        </p:nvSpPr>
        <p:spPr>
          <a:xfrm>
            <a:off x="1698927" y="2089572"/>
            <a:ext cx="24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cap="all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База данных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E3F386-66A4-1CFD-D5F2-FEF43F3867AE}"/>
              </a:ext>
            </a:extLst>
          </p:cNvPr>
          <p:cNvSpPr txBox="1"/>
          <p:nvPr/>
        </p:nvSpPr>
        <p:spPr>
          <a:xfrm>
            <a:off x="7198072" y="2089572"/>
            <a:ext cx="24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cap="all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Frontend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C75228-05C1-5302-ADD3-C1F360FDBAAF}"/>
              </a:ext>
            </a:extLst>
          </p:cNvPr>
          <p:cNvSpPr txBox="1"/>
          <p:nvPr/>
        </p:nvSpPr>
        <p:spPr>
          <a:xfrm>
            <a:off x="1698927" y="4328638"/>
            <a:ext cx="24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cap="all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API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EFA8EB-8973-641A-B746-AE4E1B7783CB}"/>
              </a:ext>
            </a:extLst>
          </p:cNvPr>
          <p:cNvSpPr txBox="1"/>
          <p:nvPr/>
        </p:nvSpPr>
        <p:spPr>
          <a:xfrm>
            <a:off x="7198072" y="4294893"/>
            <a:ext cx="24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cap="all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Сервер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53BA61-6719-9710-3A5A-DAE447E84E5F}"/>
              </a:ext>
            </a:extLst>
          </p:cNvPr>
          <p:cNvSpPr txBox="1"/>
          <p:nvPr/>
        </p:nvSpPr>
        <p:spPr>
          <a:xfrm>
            <a:off x="1908662" y="2790570"/>
            <a:ext cx="1129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SQL Server 2022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6271FA-178F-3B2C-3FC1-4195887BDAC8}"/>
              </a:ext>
            </a:extLst>
          </p:cNvPr>
          <p:cNvSpPr txBox="1"/>
          <p:nvPr/>
        </p:nvSpPr>
        <p:spPr>
          <a:xfrm>
            <a:off x="3568000" y="2675350"/>
            <a:ext cx="12315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Entity Framework Core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F88A64-15A3-3C5F-FE2F-4E9F4CEC69E4}"/>
              </a:ext>
            </a:extLst>
          </p:cNvPr>
          <p:cNvSpPr txBox="1"/>
          <p:nvPr/>
        </p:nvSpPr>
        <p:spPr>
          <a:xfrm>
            <a:off x="7403661" y="2994649"/>
            <a:ext cx="1129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Vite</a:t>
            </a:r>
            <a:endParaRPr 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71F5B7-8861-5156-38A7-90E38C879BF4}"/>
              </a:ext>
            </a:extLst>
          </p:cNvPr>
          <p:cNvSpPr txBox="1"/>
          <p:nvPr/>
        </p:nvSpPr>
        <p:spPr>
          <a:xfrm>
            <a:off x="9127400" y="2895107"/>
            <a:ext cx="1129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React Bootstrap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9495B2-8F5A-F1FF-106B-AB92697F25BD}"/>
              </a:ext>
            </a:extLst>
          </p:cNvPr>
          <p:cNvSpPr txBox="1"/>
          <p:nvPr/>
        </p:nvSpPr>
        <p:spPr>
          <a:xfrm>
            <a:off x="7381608" y="4768443"/>
            <a:ext cx="1129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Docker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5E7362-E315-3A21-8D43-B502FEB33145}"/>
              </a:ext>
            </a:extLst>
          </p:cNvPr>
          <p:cNvSpPr txBox="1"/>
          <p:nvPr/>
        </p:nvSpPr>
        <p:spPr>
          <a:xfrm>
            <a:off x="9127400" y="4655855"/>
            <a:ext cx="1129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Docker Compose</a:t>
            </a:r>
            <a:r>
              <a:rPr lang="ru-RU" sz="1400" dirty="0"/>
              <a:t> </a:t>
            </a:r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4BE28A-4A53-5E24-8630-49FA9717B02B}"/>
              </a:ext>
            </a:extLst>
          </p:cNvPr>
          <p:cNvSpPr txBox="1"/>
          <p:nvPr/>
        </p:nvSpPr>
        <p:spPr>
          <a:xfrm>
            <a:off x="7460045" y="2505218"/>
            <a:ext cx="969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React 19</a:t>
            </a:r>
            <a:endParaRPr lang="ru-RU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13BFD2-DA69-BEA5-FFF2-2F5C239D5866}"/>
              </a:ext>
            </a:extLst>
          </p:cNvPr>
          <p:cNvSpPr txBox="1"/>
          <p:nvPr/>
        </p:nvSpPr>
        <p:spPr>
          <a:xfrm>
            <a:off x="9140452" y="2505218"/>
            <a:ext cx="1103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TypeScript</a:t>
            </a:r>
            <a:endParaRPr lang="ru-RU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59BA83-181F-2FFB-37CC-76361F78116E}"/>
              </a:ext>
            </a:extLst>
          </p:cNvPr>
          <p:cNvSpPr txBox="1"/>
          <p:nvPr/>
        </p:nvSpPr>
        <p:spPr>
          <a:xfrm>
            <a:off x="7461633" y="5352486"/>
            <a:ext cx="969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Nginx</a:t>
            </a:r>
            <a:endParaRPr lang="ru-RU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42DD01-10E8-8C8D-DBFE-CD258000CCEB}"/>
              </a:ext>
            </a:extLst>
          </p:cNvPr>
          <p:cNvSpPr txBox="1"/>
          <p:nvPr/>
        </p:nvSpPr>
        <p:spPr>
          <a:xfrm>
            <a:off x="9207425" y="5334549"/>
            <a:ext cx="969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QuestPDF</a:t>
            </a:r>
            <a:endParaRPr lang="ru-RU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051A40-8154-FF6F-5869-4621CCA8F23C}"/>
              </a:ext>
            </a:extLst>
          </p:cNvPr>
          <p:cNvSpPr txBox="1"/>
          <p:nvPr/>
        </p:nvSpPr>
        <p:spPr>
          <a:xfrm>
            <a:off x="1992425" y="4777486"/>
            <a:ext cx="969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.NET 8.0</a:t>
            </a:r>
            <a:endParaRPr lang="ru-RU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F9B402-D10E-F16E-7F78-A1DBBA56784F}"/>
              </a:ext>
            </a:extLst>
          </p:cNvPr>
          <p:cNvSpPr txBox="1"/>
          <p:nvPr/>
        </p:nvSpPr>
        <p:spPr>
          <a:xfrm>
            <a:off x="1976527" y="5338718"/>
            <a:ext cx="969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C#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6514A9-F8C2-05FC-0DC0-0B2F3908444D}"/>
              </a:ext>
            </a:extLst>
          </p:cNvPr>
          <p:cNvSpPr txBox="1"/>
          <p:nvPr/>
        </p:nvSpPr>
        <p:spPr>
          <a:xfrm>
            <a:off x="3680996" y="5319196"/>
            <a:ext cx="969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Swagger</a:t>
            </a:r>
            <a:endParaRPr lang="ru-RU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E43514-0956-2CEC-EDA7-92E72CC16A4E}"/>
              </a:ext>
            </a:extLst>
          </p:cNvPr>
          <p:cNvSpPr txBox="1"/>
          <p:nvPr/>
        </p:nvSpPr>
        <p:spPr>
          <a:xfrm>
            <a:off x="3547203" y="4762404"/>
            <a:ext cx="1236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ASP.NET Core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994038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E6D29F7-FF1F-64D4-97E6-4AC6DBB446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B7B28CE-AD40-BC62-4E6B-E81C53EAC3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667EEA"/>
              </a:gs>
              <a:gs pos="0">
                <a:srgbClr val="764BA2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43D658A-8EFD-A50C-8905-AD1882FF0609}"/>
              </a:ext>
            </a:extLst>
          </p:cNvPr>
          <p:cNvSpPr/>
          <p:nvPr/>
        </p:nvSpPr>
        <p:spPr>
          <a:xfrm>
            <a:off x="711201" y="558800"/>
            <a:ext cx="10782300" cy="5753099"/>
          </a:xfrm>
          <a:prstGeom prst="roundRect">
            <a:avLst>
              <a:gd name="adj" fmla="val 3201"/>
            </a:avLst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702D2BB-4CB8-BEC5-F91F-43059A155005}"/>
              </a:ext>
            </a:extLst>
          </p:cNvPr>
          <p:cNvSpPr/>
          <p:nvPr/>
        </p:nvSpPr>
        <p:spPr>
          <a:xfrm>
            <a:off x="10062366" y="851407"/>
            <a:ext cx="1069183" cy="330488"/>
          </a:xfrm>
          <a:prstGeom prst="roundRect">
            <a:avLst>
              <a:gd name="adj" fmla="val 42728"/>
            </a:avLst>
          </a:prstGeom>
          <a:gradFill flip="none" rotWithShape="1">
            <a:gsLst>
              <a:gs pos="0">
                <a:srgbClr val="667EEA">
                  <a:lumMod val="100000"/>
                </a:srgbClr>
              </a:gs>
              <a:gs pos="100000">
                <a:srgbClr val="764BA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8F9FA"/>
                </a:solidFill>
              </a:rPr>
              <a:t>7</a:t>
            </a:r>
            <a:r>
              <a:rPr lang="en-US" dirty="0">
                <a:solidFill>
                  <a:srgbClr val="F8F9FA"/>
                </a:solidFill>
              </a:rPr>
              <a:t>/9</a:t>
            </a:r>
            <a:endParaRPr lang="ru-RU" dirty="0">
              <a:solidFill>
                <a:srgbClr val="F8F9F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6A020-5F7C-C245-03AC-8C0DF75A7E03}"/>
              </a:ext>
            </a:extLst>
          </p:cNvPr>
          <p:cNvSpPr txBox="1"/>
          <p:nvPr/>
        </p:nvSpPr>
        <p:spPr>
          <a:xfrm>
            <a:off x="3849687" y="889507"/>
            <a:ext cx="4492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667EEA"/>
                </a:solidFill>
              </a:rPr>
              <a:t>Архитектура системы</a:t>
            </a:r>
            <a:endParaRPr lang="ru-RU" sz="2000" dirty="0">
              <a:solidFill>
                <a:srgbClr val="667EEA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46C0ED6-5A2E-DB0C-0577-8FDD54039BFC}"/>
              </a:ext>
            </a:extLst>
          </p:cNvPr>
          <p:cNvSpPr/>
          <p:nvPr/>
        </p:nvSpPr>
        <p:spPr>
          <a:xfrm>
            <a:off x="2961635" y="2032513"/>
            <a:ext cx="6281431" cy="2033591"/>
          </a:xfrm>
          <a:prstGeom prst="roundRect">
            <a:avLst>
              <a:gd name="adj" fmla="val 10110"/>
            </a:avLst>
          </a:prstGeom>
          <a:gradFill flip="none" rotWithShape="1">
            <a:gsLst>
              <a:gs pos="100000">
                <a:srgbClr val="764BA2"/>
              </a:gs>
              <a:gs pos="0">
                <a:srgbClr val="667EEA"/>
              </a:gs>
            </a:gsLst>
            <a:lin ang="2700000" scaled="1"/>
            <a:tileRect/>
          </a:gra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BAED4C3-E207-7AB1-4CE9-C6C0F79AC1EB}"/>
              </a:ext>
            </a:extLst>
          </p:cNvPr>
          <p:cNvSpPr/>
          <p:nvPr/>
        </p:nvSpPr>
        <p:spPr>
          <a:xfrm>
            <a:off x="4564443" y="4624335"/>
            <a:ext cx="3063113" cy="991672"/>
          </a:xfrm>
          <a:prstGeom prst="roundRect">
            <a:avLst/>
          </a:prstGeom>
          <a:gradFill flip="none" rotWithShape="1">
            <a:gsLst>
              <a:gs pos="100000">
                <a:srgbClr val="00F2FE"/>
              </a:gs>
              <a:gs pos="0">
                <a:srgbClr val="4FACFE"/>
              </a:gs>
            </a:gsLst>
            <a:lin ang="2700000" scaled="1"/>
            <a:tileRect/>
          </a:gra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Браузер</a:t>
            </a:r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815067-35E5-8D39-25B7-949C66C19A9B}"/>
              </a:ext>
            </a:extLst>
          </p:cNvPr>
          <p:cNvSpPr txBox="1"/>
          <p:nvPr/>
        </p:nvSpPr>
        <p:spPr>
          <a:xfrm>
            <a:off x="5449889" y="2197069"/>
            <a:ext cx="1304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i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Сервер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615CB93-4F85-D876-2E61-CFE7C1CF5C10}"/>
              </a:ext>
            </a:extLst>
          </p:cNvPr>
          <p:cNvSpPr/>
          <p:nvPr/>
        </p:nvSpPr>
        <p:spPr>
          <a:xfrm>
            <a:off x="3161661" y="2823086"/>
            <a:ext cx="1810390" cy="863087"/>
          </a:xfrm>
          <a:prstGeom prst="roundRect">
            <a:avLst>
              <a:gd name="adj" fmla="val 10110"/>
            </a:avLst>
          </a:prstGeom>
          <a:gradFill flip="none" rotWithShape="1">
            <a:gsLst>
              <a:gs pos="0">
                <a:srgbClr val="764BA2">
                  <a:lumMod val="52000"/>
                  <a:lumOff val="48000"/>
                </a:srgbClr>
              </a:gs>
              <a:gs pos="100000">
                <a:srgbClr val="667EEA"/>
              </a:gs>
            </a:gsLst>
            <a:lin ang="2700000" scaled="1"/>
            <a:tileRect/>
          </a:gra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База данных</a:t>
            </a:r>
            <a:br>
              <a:rPr lang="ru-RU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</a:br>
            <a:r>
              <a:rPr lang="en-US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SQL Server</a:t>
            </a:r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A2F12CE-8523-DEC1-95AA-3693331A0C69}"/>
              </a:ext>
            </a:extLst>
          </p:cNvPr>
          <p:cNvSpPr/>
          <p:nvPr/>
        </p:nvSpPr>
        <p:spPr>
          <a:xfrm>
            <a:off x="5197155" y="2823086"/>
            <a:ext cx="1810390" cy="863087"/>
          </a:xfrm>
          <a:prstGeom prst="roundRect">
            <a:avLst>
              <a:gd name="adj" fmla="val 10110"/>
            </a:avLst>
          </a:prstGeom>
          <a:gradFill flip="none" rotWithShape="1">
            <a:gsLst>
              <a:gs pos="0">
                <a:srgbClr val="764BA2">
                  <a:lumMod val="52000"/>
                  <a:lumOff val="48000"/>
                </a:srgbClr>
              </a:gs>
              <a:gs pos="100000">
                <a:srgbClr val="667EEA"/>
              </a:gs>
            </a:gsLst>
            <a:lin ang="2700000" scaled="1"/>
            <a:tileRect/>
          </a:gra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API</a:t>
            </a:r>
            <a:br>
              <a:rPr lang="en-US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</a:br>
            <a:r>
              <a:rPr lang="en-US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ASP.NET Core</a:t>
            </a:r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046EAAC-E9D8-E48E-E41D-6C4E311B9687}"/>
              </a:ext>
            </a:extLst>
          </p:cNvPr>
          <p:cNvSpPr/>
          <p:nvPr/>
        </p:nvSpPr>
        <p:spPr>
          <a:xfrm>
            <a:off x="7227567" y="2823086"/>
            <a:ext cx="1810390" cy="863087"/>
          </a:xfrm>
          <a:prstGeom prst="roundRect">
            <a:avLst>
              <a:gd name="adj" fmla="val 10110"/>
            </a:avLst>
          </a:prstGeom>
          <a:gradFill flip="none" rotWithShape="1">
            <a:gsLst>
              <a:gs pos="0">
                <a:srgbClr val="764BA2">
                  <a:lumMod val="52000"/>
                  <a:lumOff val="48000"/>
                </a:srgbClr>
              </a:gs>
              <a:gs pos="100000">
                <a:srgbClr val="667EEA"/>
              </a:gs>
            </a:gsLst>
            <a:lin ang="2700000" scaled="1"/>
            <a:tileRect/>
          </a:gra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Веб-сервер</a:t>
            </a:r>
            <a:br>
              <a:rPr lang="ru-RU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</a:br>
            <a:r>
              <a:rPr lang="en-US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Nginx</a:t>
            </a:r>
            <a:endParaRPr lang="ru-RU" dirty="0">
              <a:solidFill>
                <a:srgbClr val="212529"/>
              </a:solidFill>
            </a:endParaRPr>
          </a:p>
        </p:txBody>
      </p: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40E7C562-4D63-EBA2-8ECB-9BB6A16BAACC}"/>
              </a:ext>
            </a:extLst>
          </p:cNvPr>
          <p:cNvCxnSpPr>
            <a:stCxn id="10" idx="3"/>
            <a:endCxn id="14" idx="2"/>
          </p:cNvCxnSpPr>
          <p:nvPr/>
        </p:nvCxnSpPr>
        <p:spPr>
          <a:xfrm flipV="1">
            <a:off x="7627556" y="3686173"/>
            <a:ext cx="505206" cy="1433998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25EB259-7CCD-A730-164A-F2B1D4E78153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7007545" y="3254630"/>
            <a:ext cx="2200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51BEF7A2-32DC-2FC8-5BC8-FE12BB93B520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>
            <a:off x="4972051" y="3254630"/>
            <a:ext cx="2251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05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47354D9-EF8C-B90E-D32B-0439BC513D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E8FCE9-E36E-AF2D-64AF-8B55F17AB6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667EEA"/>
              </a:gs>
              <a:gs pos="0">
                <a:srgbClr val="764BA2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BD0C098-5A46-45F9-385F-49A59FEC520A}"/>
              </a:ext>
            </a:extLst>
          </p:cNvPr>
          <p:cNvSpPr/>
          <p:nvPr/>
        </p:nvSpPr>
        <p:spPr>
          <a:xfrm>
            <a:off x="711201" y="558800"/>
            <a:ext cx="10782300" cy="5753099"/>
          </a:xfrm>
          <a:prstGeom prst="roundRect">
            <a:avLst>
              <a:gd name="adj" fmla="val 3201"/>
            </a:avLst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A031DFA-18A6-34A4-B880-DA9B4229DD5D}"/>
              </a:ext>
            </a:extLst>
          </p:cNvPr>
          <p:cNvSpPr/>
          <p:nvPr/>
        </p:nvSpPr>
        <p:spPr>
          <a:xfrm>
            <a:off x="10062366" y="851407"/>
            <a:ext cx="1069183" cy="330488"/>
          </a:xfrm>
          <a:prstGeom prst="roundRect">
            <a:avLst>
              <a:gd name="adj" fmla="val 42728"/>
            </a:avLst>
          </a:prstGeom>
          <a:gradFill flip="none" rotWithShape="1">
            <a:gsLst>
              <a:gs pos="0">
                <a:srgbClr val="667EEA">
                  <a:lumMod val="100000"/>
                </a:srgbClr>
              </a:gs>
              <a:gs pos="100000">
                <a:srgbClr val="764BA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8F9FA"/>
                </a:solidFill>
              </a:rPr>
              <a:t>8</a:t>
            </a:r>
            <a:r>
              <a:rPr lang="en-US" dirty="0">
                <a:solidFill>
                  <a:srgbClr val="F8F9FA"/>
                </a:solidFill>
              </a:rPr>
              <a:t>/9</a:t>
            </a:r>
            <a:endParaRPr lang="ru-RU" dirty="0">
              <a:solidFill>
                <a:srgbClr val="F8F9F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D51EF6-105F-33C9-9425-135C6FA4D30A}"/>
              </a:ext>
            </a:extLst>
          </p:cNvPr>
          <p:cNvSpPr txBox="1"/>
          <p:nvPr/>
        </p:nvSpPr>
        <p:spPr>
          <a:xfrm>
            <a:off x="2000251" y="889507"/>
            <a:ext cx="7781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667EEA"/>
                </a:solidFill>
              </a:rPr>
              <a:t>Преимущества разработанного ПО</a:t>
            </a:r>
            <a:endParaRPr lang="ru-RU" sz="2000" dirty="0">
              <a:solidFill>
                <a:srgbClr val="667EEA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E71ED97-A93C-585A-D759-7D98B0A73106}"/>
              </a:ext>
            </a:extLst>
          </p:cNvPr>
          <p:cNvSpPr/>
          <p:nvPr/>
        </p:nvSpPr>
        <p:spPr>
          <a:xfrm>
            <a:off x="1127272" y="2628392"/>
            <a:ext cx="2209801" cy="25293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rgbClr val="21252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24CCB7-2995-3326-F950-A0DE3532D849}"/>
              </a:ext>
            </a:extLst>
          </p:cNvPr>
          <p:cNvSpPr txBox="1"/>
          <p:nvPr/>
        </p:nvSpPr>
        <p:spPr>
          <a:xfrm>
            <a:off x="1918546" y="2955894"/>
            <a:ext cx="627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⚡</a:t>
            </a:r>
            <a:endParaRPr lang="ru-RU" sz="4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64EEF-535F-8680-8785-A103FBFD6B84}"/>
              </a:ext>
            </a:extLst>
          </p:cNvPr>
          <p:cNvSpPr txBox="1"/>
          <p:nvPr/>
        </p:nvSpPr>
        <p:spPr>
          <a:xfrm>
            <a:off x="1324899" y="4227834"/>
            <a:ext cx="18145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Быстрая обработка запросов и отклик системы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560B10-D7EC-7D04-13BF-D4DDF710C8D0}"/>
              </a:ext>
            </a:extLst>
          </p:cNvPr>
          <p:cNvSpPr txBox="1"/>
          <p:nvPr/>
        </p:nvSpPr>
        <p:spPr>
          <a:xfrm>
            <a:off x="1612443" y="3793032"/>
            <a:ext cx="123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667EEA"/>
                </a:solidFill>
              </a:rPr>
              <a:t>Скорость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0E9C4C5-E54C-D36D-AD4F-2B31C1CAC7F1}"/>
              </a:ext>
            </a:extLst>
          </p:cNvPr>
          <p:cNvSpPr/>
          <p:nvPr/>
        </p:nvSpPr>
        <p:spPr>
          <a:xfrm>
            <a:off x="6276965" y="2628393"/>
            <a:ext cx="2209801" cy="252939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rgbClr val="212529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51FD92-4F25-803F-A898-99411C7DBC87}"/>
              </a:ext>
            </a:extLst>
          </p:cNvPr>
          <p:cNvSpPr txBox="1"/>
          <p:nvPr/>
        </p:nvSpPr>
        <p:spPr>
          <a:xfrm>
            <a:off x="7068239" y="2925952"/>
            <a:ext cx="627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🔍</a:t>
            </a:r>
            <a:endParaRPr lang="ru-RU" sz="4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E7AB2C-EEBD-7578-724B-5281013E3C47}"/>
              </a:ext>
            </a:extLst>
          </p:cNvPr>
          <p:cNvSpPr txBox="1"/>
          <p:nvPr/>
        </p:nvSpPr>
        <p:spPr>
          <a:xfrm>
            <a:off x="6474591" y="4227834"/>
            <a:ext cx="18145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Полный контроль над данными и процессами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691E4B-2E95-D486-6FE3-D9ECDE43FCE1}"/>
              </a:ext>
            </a:extLst>
          </p:cNvPr>
          <p:cNvSpPr txBox="1"/>
          <p:nvPr/>
        </p:nvSpPr>
        <p:spPr>
          <a:xfrm>
            <a:off x="6762136" y="3763090"/>
            <a:ext cx="123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667EEA"/>
                </a:solidFill>
              </a:rPr>
              <a:t>Контроль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16C93A6-082B-D005-0FD1-3421AAD2D866}"/>
              </a:ext>
            </a:extLst>
          </p:cNvPr>
          <p:cNvSpPr/>
          <p:nvPr/>
        </p:nvSpPr>
        <p:spPr>
          <a:xfrm>
            <a:off x="8849102" y="2628393"/>
            <a:ext cx="2209801" cy="252939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rgbClr val="212529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27FC26BD-DD92-2274-D482-2C9403630C92}"/>
              </a:ext>
            </a:extLst>
          </p:cNvPr>
          <p:cNvSpPr/>
          <p:nvPr/>
        </p:nvSpPr>
        <p:spPr>
          <a:xfrm>
            <a:off x="3728117" y="2628392"/>
            <a:ext cx="2209801" cy="25293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dirty="0">
              <a:solidFill>
                <a:srgbClr val="212529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BF6351-FF1A-9B3C-FCA4-E3682C948D45}"/>
              </a:ext>
            </a:extLst>
          </p:cNvPr>
          <p:cNvSpPr txBox="1"/>
          <p:nvPr/>
        </p:nvSpPr>
        <p:spPr>
          <a:xfrm>
            <a:off x="9546249" y="2955895"/>
            <a:ext cx="627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✨</a:t>
            </a:r>
            <a:endParaRPr lang="ru-RU" sz="4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56E119-28BF-B930-AD55-12130DFF3171}"/>
              </a:ext>
            </a:extLst>
          </p:cNvPr>
          <p:cNvSpPr txBox="1"/>
          <p:nvPr/>
        </p:nvSpPr>
        <p:spPr>
          <a:xfrm>
            <a:off x="9046729" y="4227834"/>
            <a:ext cx="18145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Интуитивный интерфейс для пользователей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7043F5-5D58-DE7C-EDA6-C84ECBD98F6D}"/>
              </a:ext>
            </a:extLst>
          </p:cNvPr>
          <p:cNvSpPr txBox="1"/>
          <p:nvPr/>
        </p:nvSpPr>
        <p:spPr>
          <a:xfrm>
            <a:off x="9240146" y="3789857"/>
            <a:ext cx="123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667EEA"/>
                </a:solidFill>
              </a:rPr>
              <a:t>Удобство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5BF4A0-DB8B-0B68-3AAD-FF55286BACB8}"/>
              </a:ext>
            </a:extLst>
          </p:cNvPr>
          <p:cNvSpPr txBox="1"/>
          <p:nvPr/>
        </p:nvSpPr>
        <p:spPr>
          <a:xfrm>
            <a:off x="4533635" y="2925951"/>
            <a:ext cx="627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📈</a:t>
            </a:r>
            <a:endParaRPr lang="ru-RU" sz="4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73BD46-90FF-AE55-4AF5-D88E07F51700}"/>
              </a:ext>
            </a:extLst>
          </p:cNvPr>
          <p:cNvSpPr txBox="1"/>
          <p:nvPr/>
        </p:nvSpPr>
        <p:spPr>
          <a:xfrm>
            <a:off x="3694344" y="3793033"/>
            <a:ext cx="22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667EEA"/>
                </a:solidFill>
              </a:rPr>
              <a:t>Масштабируемость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5F8562-F590-BA52-2F0B-0C69549421E6}"/>
              </a:ext>
            </a:extLst>
          </p:cNvPr>
          <p:cNvSpPr txBox="1"/>
          <p:nvPr/>
        </p:nvSpPr>
        <p:spPr>
          <a:xfrm>
            <a:off x="3939987" y="4229689"/>
            <a:ext cx="1814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Легкое расширение функционала</a:t>
            </a:r>
          </a:p>
        </p:txBody>
      </p:sp>
    </p:spTree>
    <p:extLst>
      <p:ext uri="{BB962C8B-B14F-4D97-AF65-F5344CB8AC3E}">
        <p14:creationId xmlns:p14="http://schemas.microsoft.com/office/powerpoint/2010/main" val="87491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B468DF-F609-1D2C-AE96-9F29A2C696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6BAFB27-FD85-CE05-3432-852E9F8CA3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667EEA"/>
              </a:gs>
              <a:gs pos="0">
                <a:srgbClr val="764BA2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375C65F-35A5-32A7-2CCA-6A3900A792BB}"/>
              </a:ext>
            </a:extLst>
          </p:cNvPr>
          <p:cNvSpPr/>
          <p:nvPr/>
        </p:nvSpPr>
        <p:spPr>
          <a:xfrm>
            <a:off x="711201" y="558800"/>
            <a:ext cx="10782300" cy="5753099"/>
          </a:xfrm>
          <a:prstGeom prst="roundRect">
            <a:avLst>
              <a:gd name="adj" fmla="val 3201"/>
            </a:avLst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D29E746-B4FA-E4AE-112F-0CA43FE3534D}"/>
              </a:ext>
            </a:extLst>
          </p:cNvPr>
          <p:cNvSpPr/>
          <p:nvPr/>
        </p:nvSpPr>
        <p:spPr>
          <a:xfrm>
            <a:off x="10062366" y="851407"/>
            <a:ext cx="1069183" cy="330488"/>
          </a:xfrm>
          <a:prstGeom prst="roundRect">
            <a:avLst>
              <a:gd name="adj" fmla="val 42728"/>
            </a:avLst>
          </a:prstGeom>
          <a:gradFill flip="none" rotWithShape="1">
            <a:gsLst>
              <a:gs pos="0">
                <a:srgbClr val="667EEA">
                  <a:lumMod val="100000"/>
                </a:srgbClr>
              </a:gs>
              <a:gs pos="100000">
                <a:srgbClr val="764BA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8F9FA"/>
                </a:solidFill>
              </a:rPr>
              <a:t>9</a:t>
            </a:r>
            <a:r>
              <a:rPr lang="en-US" dirty="0">
                <a:solidFill>
                  <a:srgbClr val="F8F9FA"/>
                </a:solidFill>
              </a:rPr>
              <a:t>/9</a:t>
            </a:r>
            <a:endParaRPr lang="ru-RU" dirty="0">
              <a:solidFill>
                <a:srgbClr val="F8F9F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FBAD4F-E030-5069-9EFE-B76578ED544D}"/>
              </a:ext>
            </a:extLst>
          </p:cNvPr>
          <p:cNvSpPr txBox="1"/>
          <p:nvPr/>
        </p:nvSpPr>
        <p:spPr>
          <a:xfrm>
            <a:off x="5280025" y="889507"/>
            <a:ext cx="2663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667EEA"/>
                </a:solidFill>
              </a:rPr>
              <a:t>Заключение</a:t>
            </a:r>
            <a:endParaRPr lang="ru-RU" sz="2000" dirty="0">
              <a:solidFill>
                <a:srgbClr val="667EEA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A59A03A-3E9D-2891-2106-F1C0E72EECFF}"/>
              </a:ext>
            </a:extLst>
          </p:cNvPr>
          <p:cNvSpPr/>
          <p:nvPr/>
        </p:nvSpPr>
        <p:spPr>
          <a:xfrm>
            <a:off x="1611517" y="2393168"/>
            <a:ext cx="9266034" cy="29998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12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rgbClr val="21252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01D900-5DCC-14B4-55B0-81FB6E2021AF}"/>
              </a:ext>
            </a:extLst>
          </p:cNvPr>
          <p:cNvSpPr txBox="1"/>
          <p:nvPr/>
        </p:nvSpPr>
        <p:spPr>
          <a:xfrm>
            <a:off x="2324100" y="3385257"/>
            <a:ext cx="3390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Поставленная цель достигнута и все задачи выполнены.</a:t>
            </a:r>
          </a:p>
        </p:txBody>
      </p:sp>
      <p:pic>
        <p:nvPicPr>
          <p:cNvPr id="13" name="Рисунок 12" descr="Изображение выглядит как Графика, круг, Красочность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21F856A-926B-2FF5-6C1D-4A6956EFC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386" y="2639210"/>
            <a:ext cx="2507755" cy="250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0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57E718-D5CF-6C61-F845-8E74B6D3E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3F6962-5BAF-CD17-9019-54D3CAF106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667EEA"/>
              </a:gs>
              <a:gs pos="0">
                <a:srgbClr val="764BA2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5BBF279-6C80-5277-780A-B2028EDBD6F0}"/>
              </a:ext>
            </a:extLst>
          </p:cNvPr>
          <p:cNvSpPr/>
          <p:nvPr/>
        </p:nvSpPr>
        <p:spPr>
          <a:xfrm>
            <a:off x="711201" y="558800"/>
            <a:ext cx="10782300" cy="5753099"/>
          </a:xfrm>
          <a:prstGeom prst="roundRect">
            <a:avLst>
              <a:gd name="adj" fmla="val 3201"/>
            </a:avLst>
          </a:prstGeom>
          <a:solidFill>
            <a:srgbClr val="F8F9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7A971-AA63-129C-F418-7B867D2A50AA}"/>
              </a:ext>
            </a:extLst>
          </p:cNvPr>
          <p:cNvSpPr txBox="1"/>
          <p:nvPr/>
        </p:nvSpPr>
        <p:spPr>
          <a:xfrm>
            <a:off x="5010151" y="5778500"/>
            <a:ext cx="2184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6C757D"/>
                </a:solidFill>
              </a:rPr>
              <a:t>Архангельск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5D393D-921D-9B5F-B105-309F799E163C}"/>
              </a:ext>
            </a:extLst>
          </p:cNvPr>
          <p:cNvSpPr txBox="1"/>
          <p:nvPr/>
        </p:nvSpPr>
        <p:spPr>
          <a:xfrm>
            <a:off x="1060450" y="698500"/>
            <a:ext cx="100710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ФЕДЕРАЛЬНОЕ ГОСУДАРСТВЕННОЕ БЮДЖЕТНОЕ ОБРАЗОВАТЕЛЬНОЕ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УЧРЕЖДЕНИЕ ВЫСШЕГО ОБРАЗОВАНИЯ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«САНКТ-ПЕТЕРБУРГСКИЙ ГОСУДАРСТВЕННЫЙ УНИВЕРСИТЕТ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ТЕЛЕКОММУНИКАЦИЙ ИМ. ПРОФ. М.А. БОНЧ-БРУЕВИЧА»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(СПбГУТ)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АРХАНГЕЛЬСКИЙ КОЛЛЕДЖ ТЕЛЕКОММУНИКАЦИЙ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ИМ. Б.Л. РОЗИНГА (ФИЛИАЛ) СПбГУТ</a:t>
            </a:r>
            <a:b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</a:br>
            <a:r>
              <a:rPr lang="ru-RU" sz="1600" dirty="0">
                <a:solidFill>
                  <a:srgbClr val="6C757D"/>
                </a:solidFill>
                <a:latin typeface="Comfortaa Medium" pitchFamily="2" charset="0"/>
              </a:rPr>
              <a:t>(АКТ (ф) СПбГУТ)</a:t>
            </a:r>
            <a:endParaRPr lang="ru-RU" sz="1600" dirty="0">
              <a:solidFill>
                <a:srgbClr val="6C757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3AD894-A954-09BB-F5D3-808898AD3ADE}"/>
              </a:ext>
            </a:extLst>
          </p:cNvPr>
          <p:cNvSpPr txBox="1"/>
          <p:nvPr/>
        </p:nvSpPr>
        <p:spPr>
          <a:xfrm>
            <a:off x="4559300" y="2811641"/>
            <a:ext cx="3086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667EEA"/>
                </a:solidFill>
              </a:rPr>
              <a:t>КУРСОВОЙ ПРОЕКТ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81DAD-6387-1B2A-7E62-AE41955125FB}"/>
              </a:ext>
            </a:extLst>
          </p:cNvPr>
          <p:cNvSpPr txBox="1"/>
          <p:nvPr/>
        </p:nvSpPr>
        <p:spPr>
          <a:xfrm>
            <a:off x="2285999" y="3244334"/>
            <a:ext cx="763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212529"/>
                </a:solidFill>
              </a:rPr>
              <a:t>РАЗРАБОТКА ПОДСИСТЕМЫ ЗАКАЗА АВТОМОБИЛЕЙ ДЛЯ АВТОСАЛОНА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FD31F6-38B0-E3AF-71FF-BD7BEB1D478E}"/>
              </a:ext>
            </a:extLst>
          </p:cNvPr>
          <p:cNvSpPr txBox="1"/>
          <p:nvPr/>
        </p:nvSpPr>
        <p:spPr>
          <a:xfrm>
            <a:off x="7899400" y="4097397"/>
            <a:ext cx="32321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12529"/>
                </a:solidFill>
              </a:rPr>
              <a:t>Погребной Иван Сергеевич</a:t>
            </a:r>
          </a:p>
          <a:p>
            <a:r>
              <a:rPr lang="ru-RU" sz="1600" dirty="0">
                <a:solidFill>
                  <a:srgbClr val="6C757D"/>
                </a:solidFill>
              </a:rPr>
              <a:t>Студент ИСПП-21</a:t>
            </a:r>
          </a:p>
          <a:p>
            <a:endParaRPr lang="ru-RU" dirty="0"/>
          </a:p>
          <a:p>
            <a:r>
              <a:rPr lang="ru-RU" dirty="0">
                <a:solidFill>
                  <a:srgbClr val="212529"/>
                </a:solidFill>
              </a:rPr>
              <a:t>Маломан Юлия Сергеевна</a:t>
            </a:r>
            <a:br>
              <a:rPr lang="ru-RU" dirty="0"/>
            </a:br>
            <a:r>
              <a:rPr lang="ru-RU" dirty="0">
                <a:solidFill>
                  <a:srgbClr val="6C757D"/>
                </a:solidFill>
              </a:rPr>
              <a:t>Руководитель</a:t>
            </a:r>
          </a:p>
        </p:txBody>
      </p:sp>
    </p:spTree>
    <p:extLst>
      <p:ext uri="{BB962C8B-B14F-4D97-AF65-F5344CB8AC3E}">
        <p14:creationId xmlns:p14="http://schemas.microsoft.com/office/powerpoint/2010/main" val="25018162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Microsoft Office PowerPoint</Application>
  <PresentationFormat>Широкоэкранный</PresentationFormat>
  <Paragraphs>97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Comfortaa Medium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Crowler 1</dc:creator>
  <cp:lastModifiedBy>Crowler 1</cp:lastModifiedBy>
  <cp:revision>1</cp:revision>
  <dcterms:created xsi:type="dcterms:W3CDTF">2025-12-08T21:31:39Z</dcterms:created>
  <dcterms:modified xsi:type="dcterms:W3CDTF">2025-12-08T21:31:52Z</dcterms:modified>
</cp:coreProperties>
</file>